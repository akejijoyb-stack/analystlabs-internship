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6" r:id="rId3"/>
    <p:sldId id="258" r:id="rId4"/>
    <p:sldId id="259" r:id="rId5"/>
    <p:sldId id="260" r:id="rId6"/>
    <p:sldId id="267"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2" d="100"/>
          <a:sy n="42" d="100"/>
        </p:scale>
        <p:origin x="60" y="7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6/25/2026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6/25/2026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840CF-FF80-4395-B857-E4720D4931C2}"/>
              </a:ext>
            </a:extLst>
          </p:cNvPr>
          <p:cNvSpPr>
            <a:spLocks noGrp="1"/>
          </p:cNvSpPr>
          <p:nvPr>
            <p:ph type="ctrTitle"/>
          </p:nvPr>
        </p:nvSpPr>
        <p:spPr>
          <a:xfrm>
            <a:off x="1876424" y="2446019"/>
            <a:ext cx="8791575" cy="1063943"/>
          </a:xfrm>
        </p:spPr>
        <p:txBody>
          <a:bodyPr>
            <a:normAutofit fontScale="90000"/>
          </a:bodyPr>
          <a:lstStyle/>
          <a:p>
            <a:r>
              <a:rPr lang="en-US" dirty="0">
                <a:latin typeface="Times New Roman" panose="02020603050405020304" pitchFamily="18" charset="0"/>
                <a:cs typeface="Times New Roman" panose="02020603050405020304" pitchFamily="18" charset="0"/>
              </a:rPr>
              <a:t>Superstore business report</a:t>
            </a:r>
          </a:p>
        </p:txBody>
      </p:sp>
      <p:sp>
        <p:nvSpPr>
          <p:cNvPr id="3" name="Subtitle 2">
            <a:extLst>
              <a:ext uri="{FF2B5EF4-FFF2-40B4-BE49-F238E27FC236}">
                <a16:creationId xmlns:a16="http://schemas.microsoft.com/office/drawing/2014/main" id="{B7954035-DD0D-4A64-86BF-09B1D4B36480}"/>
              </a:ext>
            </a:extLst>
          </p:cNvPr>
          <p:cNvSpPr>
            <a:spLocks noGrp="1"/>
          </p:cNvSpPr>
          <p:nvPr>
            <p:ph type="subTitle" idx="1"/>
          </p:nvPr>
        </p:nvSpPr>
        <p:spPr/>
        <p:txBody>
          <a:bodyPr/>
          <a:lstStyle/>
          <a:p>
            <a:pPr algn="ctr"/>
            <a:r>
              <a:rPr lang="en-US" dirty="0">
                <a:latin typeface="Times New Roman" panose="02020603050405020304" pitchFamily="18" charset="0"/>
                <a:cs typeface="Times New Roman" panose="02020603050405020304" pitchFamily="18" charset="0"/>
              </a:rPr>
              <a:t>Week 4 task prepared by </a:t>
            </a:r>
            <a:r>
              <a:rPr lang="en-US" dirty="0" err="1">
                <a:latin typeface="Times New Roman" panose="02020603050405020304" pitchFamily="18" charset="0"/>
                <a:cs typeface="Times New Roman" panose="02020603050405020304" pitchFamily="18" charset="0"/>
              </a:rPr>
              <a:t>akeji</a:t>
            </a:r>
            <a:r>
              <a:rPr lang="en-US" dirty="0">
                <a:latin typeface="Times New Roman" panose="02020603050405020304" pitchFamily="18" charset="0"/>
                <a:cs typeface="Times New Roman" panose="02020603050405020304" pitchFamily="18" charset="0"/>
              </a:rPr>
              <a:t> joy</a:t>
            </a:r>
          </a:p>
          <a:p>
            <a:pPr algn="ctr"/>
            <a:r>
              <a:rPr lang="en-US" dirty="0">
                <a:latin typeface="Times New Roman" panose="02020603050405020304" pitchFamily="18" charset="0"/>
                <a:cs typeface="Times New Roman" panose="02020603050405020304" pitchFamily="18" charset="0"/>
              </a:rPr>
              <a:t>Tool used: Microsoft power bi</a:t>
            </a:r>
          </a:p>
        </p:txBody>
      </p:sp>
    </p:spTree>
    <p:extLst>
      <p:ext uri="{BB962C8B-B14F-4D97-AF65-F5344CB8AC3E}">
        <p14:creationId xmlns:p14="http://schemas.microsoft.com/office/powerpoint/2010/main" val="1705920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E213A220-FE44-48A4-8FE9-24BB79039D5C}"/>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Retail sales dataset (SUPERSTORES SALES DATASET)</a:t>
            </a:r>
          </a:p>
          <a:p>
            <a:r>
              <a:rPr lang="en-US" dirty="0">
                <a:latin typeface="Times New Roman" panose="02020603050405020304" pitchFamily="18" charset="0"/>
                <a:cs typeface="Times New Roman" panose="02020603050405020304" pitchFamily="18" charset="0"/>
              </a:rPr>
              <a:t>It contains sales transaction from 2014 – 2017</a:t>
            </a:r>
          </a:p>
          <a:p>
            <a:r>
              <a:rPr lang="en-US" dirty="0">
                <a:latin typeface="Times New Roman" panose="02020603050405020304" pitchFamily="18" charset="0"/>
                <a:cs typeface="Times New Roman" panose="02020603050405020304" pitchFamily="18" charset="0"/>
              </a:rPr>
              <a:t>It includes information on sales, profit, orders, categories, regions, segments etc.</a:t>
            </a:r>
          </a:p>
          <a:p>
            <a:r>
              <a:rPr lang="en-US" dirty="0">
                <a:latin typeface="Times New Roman" panose="02020603050405020304" pitchFamily="18" charset="0"/>
                <a:cs typeface="Times New Roman" panose="02020603050405020304" pitchFamily="18" charset="0"/>
              </a:rPr>
              <a:t>Number of rows : 9994</a:t>
            </a:r>
          </a:p>
          <a:p>
            <a:r>
              <a:rPr lang="en-US" dirty="0">
                <a:latin typeface="Times New Roman" panose="02020603050405020304" pitchFamily="18" charset="0"/>
                <a:cs typeface="Times New Roman" panose="02020603050405020304" pitchFamily="18" charset="0"/>
              </a:rPr>
              <a:t>Number of column: 19</a:t>
            </a:r>
          </a:p>
          <a:p>
            <a:r>
              <a:rPr lang="en-US" dirty="0">
                <a:latin typeface="Times New Roman" panose="02020603050405020304" pitchFamily="18" charset="0"/>
                <a:cs typeface="Times New Roman" panose="02020603050405020304" pitchFamily="18" charset="0"/>
              </a:rPr>
              <a:t>Objectives: To analyze sales performance, regional performance and profit to support better business decision making.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904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cleaning and preparation</a:t>
            </a:r>
          </a:p>
        </p:txBody>
      </p:sp>
      <p:sp>
        <p:nvSpPr>
          <p:cNvPr id="3" name="Content Placeholder 2">
            <a:extLst>
              <a:ext uri="{FF2B5EF4-FFF2-40B4-BE49-F238E27FC236}">
                <a16:creationId xmlns:a16="http://schemas.microsoft.com/office/drawing/2014/main" id="{E213A220-FE44-48A4-8FE9-24BB79039D5C}"/>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No duplicates were found in the dataset</a:t>
            </a:r>
          </a:p>
          <a:p>
            <a:r>
              <a:rPr lang="en-US" dirty="0">
                <a:latin typeface="Times New Roman" panose="02020603050405020304" pitchFamily="18" charset="0"/>
                <a:cs typeface="Times New Roman" panose="02020603050405020304" pitchFamily="18" charset="0"/>
              </a:rPr>
              <a:t>Row ID was verified to ensure there were no duplicate records.</a:t>
            </a:r>
          </a:p>
          <a:p>
            <a:r>
              <a:rPr lang="en-US" dirty="0">
                <a:latin typeface="Times New Roman" panose="02020603050405020304" pitchFamily="18" charset="0"/>
                <a:cs typeface="Times New Roman" panose="02020603050405020304" pitchFamily="18" charset="0"/>
              </a:rPr>
              <a:t>The country column was remove because all records contained United States which provided no analytical value.</a:t>
            </a:r>
          </a:p>
          <a:p>
            <a:r>
              <a:rPr lang="en-US" dirty="0">
                <a:latin typeface="Times New Roman" panose="02020603050405020304" pitchFamily="18" charset="0"/>
                <a:cs typeface="Times New Roman" panose="02020603050405020304" pitchFamily="18" charset="0"/>
              </a:rPr>
              <a:t>The Postal code column was removed as it was not required for the analysis</a:t>
            </a:r>
          </a:p>
          <a:p>
            <a:r>
              <a:rPr lang="en-US" dirty="0">
                <a:latin typeface="Times New Roman" panose="02020603050405020304" pitchFamily="18" charset="0"/>
                <a:cs typeface="Times New Roman" panose="02020603050405020304" pitchFamily="18" charset="0"/>
              </a:rPr>
              <a:t>Checked for missing value using column quality in power query</a:t>
            </a:r>
          </a:p>
          <a:p>
            <a:r>
              <a:rPr lang="en-US" dirty="0">
                <a:latin typeface="Times New Roman" panose="02020603050405020304" pitchFamily="18" charset="0"/>
                <a:cs typeface="Times New Roman" panose="02020603050405020304" pitchFamily="18" charset="0"/>
              </a:rPr>
              <a:t>Data type was checked for data and numeric field.</a:t>
            </a:r>
          </a:p>
          <a:p>
            <a:endParaRPr lang="en-US" dirty="0"/>
          </a:p>
          <a:p>
            <a:endParaRPr lang="en-US" dirty="0"/>
          </a:p>
        </p:txBody>
      </p:sp>
    </p:spTree>
    <p:extLst>
      <p:ext uri="{BB962C8B-B14F-4D97-AF65-F5344CB8AC3E}">
        <p14:creationId xmlns:p14="http://schemas.microsoft.com/office/powerpoint/2010/main" val="222821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Business question</a:t>
            </a:r>
          </a:p>
        </p:txBody>
      </p:sp>
      <p:sp>
        <p:nvSpPr>
          <p:cNvPr id="3" name="Content Placeholder 2">
            <a:extLst>
              <a:ext uri="{FF2B5EF4-FFF2-40B4-BE49-F238E27FC236}">
                <a16:creationId xmlns:a16="http://schemas.microsoft.com/office/drawing/2014/main" id="{E213A220-FE44-48A4-8FE9-24BB79039D5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Which region generates the most profit?</a:t>
            </a:r>
          </a:p>
          <a:p>
            <a:r>
              <a:rPr lang="en-US" dirty="0">
                <a:latin typeface="Times New Roman" panose="02020603050405020304" pitchFamily="18" charset="0"/>
                <a:cs typeface="Times New Roman" panose="02020603050405020304" pitchFamily="18" charset="0"/>
              </a:rPr>
              <a:t>Which region generates the most sales?</a:t>
            </a:r>
          </a:p>
          <a:p>
            <a:r>
              <a:rPr lang="en-US" dirty="0">
                <a:latin typeface="Times New Roman" panose="02020603050405020304" pitchFamily="18" charset="0"/>
                <a:cs typeface="Times New Roman" panose="02020603050405020304" pitchFamily="18" charset="0"/>
              </a:rPr>
              <a:t>Which products are underperforming?</a:t>
            </a:r>
          </a:p>
          <a:p>
            <a:r>
              <a:rPr lang="en-US" dirty="0">
                <a:latin typeface="Times New Roman" panose="02020603050405020304" pitchFamily="18" charset="0"/>
                <a:cs typeface="Times New Roman" panose="02020603050405020304" pitchFamily="18" charset="0"/>
              </a:rPr>
              <a:t>which products are the most profitable?</a:t>
            </a:r>
          </a:p>
          <a:p>
            <a:r>
              <a:rPr lang="en-US" dirty="0">
                <a:latin typeface="Times New Roman" panose="02020603050405020304" pitchFamily="18" charset="0"/>
                <a:cs typeface="Times New Roman" panose="02020603050405020304" pitchFamily="18" charset="0"/>
              </a:rPr>
              <a:t>How has sales changed overtime?</a:t>
            </a:r>
          </a:p>
          <a:p>
            <a:r>
              <a:rPr lang="en-US" dirty="0">
                <a:latin typeface="Times New Roman" panose="02020603050405020304" pitchFamily="18" charset="0"/>
                <a:cs typeface="Times New Roman" panose="02020603050405020304" pitchFamily="18" charset="0"/>
              </a:rPr>
              <a:t>Which sub-categories contribute most to profit?</a:t>
            </a:r>
          </a:p>
        </p:txBody>
      </p:sp>
    </p:spTree>
    <p:extLst>
      <p:ext uri="{BB962C8B-B14F-4D97-AF65-F5344CB8AC3E}">
        <p14:creationId xmlns:p14="http://schemas.microsoft.com/office/powerpoint/2010/main" val="3719881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Kpi</a:t>
            </a:r>
            <a:r>
              <a:rPr lang="en-US" cap="none" dirty="0" err="1">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defined</a:t>
            </a:r>
          </a:p>
        </p:txBody>
      </p:sp>
      <p:sp>
        <p:nvSpPr>
          <p:cNvPr id="3" name="Content Placeholder 2">
            <a:extLst>
              <a:ext uri="{FF2B5EF4-FFF2-40B4-BE49-F238E27FC236}">
                <a16:creationId xmlns:a16="http://schemas.microsoft.com/office/drawing/2014/main" id="{E213A220-FE44-48A4-8FE9-24BB79039D5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Total Sales: Overall Revenue generated ($2.30M)</a:t>
            </a:r>
          </a:p>
          <a:p>
            <a:r>
              <a:rPr lang="en-US" dirty="0">
                <a:latin typeface="Times New Roman" panose="02020603050405020304" pitchFamily="18" charset="0"/>
                <a:cs typeface="Times New Roman" panose="02020603050405020304" pitchFamily="18" charset="0"/>
              </a:rPr>
              <a:t>Total Orders: Numbers of orders processed (5K)</a:t>
            </a:r>
          </a:p>
          <a:p>
            <a:r>
              <a:rPr lang="en-US" dirty="0">
                <a:latin typeface="Times New Roman" panose="02020603050405020304" pitchFamily="18" charset="0"/>
                <a:cs typeface="Times New Roman" panose="02020603050405020304" pitchFamily="18" charset="0"/>
              </a:rPr>
              <a:t>Total Profit: Overall Profit generated ($286.4K)</a:t>
            </a:r>
          </a:p>
          <a:p>
            <a:r>
              <a:rPr lang="en-US" dirty="0">
                <a:latin typeface="Times New Roman" panose="02020603050405020304" pitchFamily="18" charset="0"/>
                <a:cs typeface="Times New Roman" panose="02020603050405020304" pitchFamily="18" charset="0"/>
              </a:rPr>
              <a:t>Profit Margin: Sales percentage of profit acquired (12%)</a:t>
            </a:r>
          </a:p>
          <a:p>
            <a:r>
              <a:rPr lang="en-US" dirty="0">
                <a:latin typeface="Times New Roman" panose="02020603050405020304" pitchFamily="18" charset="0"/>
                <a:cs typeface="Times New Roman" panose="02020603050405020304" pitchFamily="18" charset="0"/>
              </a:rPr>
              <a:t>Average Discount: Average discount of sales (15.62%)</a:t>
            </a:r>
          </a:p>
          <a:p>
            <a:r>
              <a:rPr lang="en-US" dirty="0">
                <a:latin typeface="Times New Roman" panose="02020603050405020304" pitchFamily="18" charset="0"/>
                <a:cs typeface="Times New Roman" panose="02020603050405020304" pitchFamily="18" charset="0"/>
              </a:rPr>
              <a:t>Total quantity Sold: Total quantity of good sold (38k)</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317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a:xfrm>
            <a:off x="1143001" y="102091"/>
            <a:ext cx="9905998" cy="1095982"/>
          </a:xfrm>
        </p:spPr>
        <p:txBody>
          <a:bodyPr/>
          <a:lstStyle/>
          <a:p>
            <a:r>
              <a:rPr lang="en-US" dirty="0">
                <a:latin typeface="Times New Roman" panose="02020603050405020304" pitchFamily="18" charset="0"/>
                <a:cs typeface="Times New Roman" panose="02020603050405020304" pitchFamily="18" charset="0"/>
              </a:rPr>
              <a:t>Dashboard</a:t>
            </a:r>
          </a:p>
        </p:txBody>
      </p:sp>
      <p:pic>
        <p:nvPicPr>
          <p:cNvPr id="5" name="Content Placeholder 4">
            <a:extLst>
              <a:ext uri="{FF2B5EF4-FFF2-40B4-BE49-F238E27FC236}">
                <a16:creationId xmlns:a16="http://schemas.microsoft.com/office/drawing/2014/main" id="{856363F2-E5E8-4A68-926A-9DAC1E90A351}"/>
              </a:ext>
            </a:extLst>
          </p:cNvPr>
          <p:cNvPicPr>
            <a:picLocks noGrp="1" noChangeAspect="1"/>
          </p:cNvPicPr>
          <p:nvPr>
            <p:ph idx="1"/>
          </p:nvPr>
        </p:nvPicPr>
        <p:blipFill>
          <a:blip r:embed="rId2"/>
          <a:stretch>
            <a:fillRect/>
          </a:stretch>
        </p:blipFill>
        <p:spPr>
          <a:xfrm>
            <a:off x="1600200" y="2811635"/>
            <a:ext cx="9578340" cy="3989994"/>
          </a:xfrm>
        </p:spPr>
      </p:pic>
      <p:sp>
        <p:nvSpPr>
          <p:cNvPr id="6" name="Content Placeholder 2">
            <a:extLst>
              <a:ext uri="{FF2B5EF4-FFF2-40B4-BE49-F238E27FC236}">
                <a16:creationId xmlns:a16="http://schemas.microsoft.com/office/drawing/2014/main" id="{B018253B-F411-4AE8-BAFB-653E66EECB81}"/>
              </a:ext>
            </a:extLst>
          </p:cNvPr>
          <p:cNvSpPr txBox="1">
            <a:spLocks/>
          </p:cNvSpPr>
          <p:nvPr/>
        </p:nvSpPr>
        <p:spPr>
          <a:xfrm>
            <a:off x="1143001" y="960120"/>
            <a:ext cx="9905999" cy="227249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latin typeface="Times New Roman" panose="02020603050405020304" pitchFamily="18" charset="0"/>
                <a:cs typeface="Times New Roman" panose="02020603050405020304" pitchFamily="18" charset="0"/>
              </a:rPr>
              <a:t>This dashboard provide an interactive overview of sales performance across regions, categories, products and time periods. Users can analyze key metrics, track trends and explore using interactive slicers such as Region, Category and Year.</a:t>
            </a:r>
          </a:p>
          <a:p>
            <a:endParaRPr lang="en-US" dirty="0"/>
          </a:p>
        </p:txBody>
      </p:sp>
    </p:spTree>
    <p:extLst>
      <p:ext uri="{BB962C8B-B14F-4D97-AF65-F5344CB8AC3E}">
        <p14:creationId xmlns:p14="http://schemas.microsoft.com/office/powerpoint/2010/main" val="2652776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a:xfrm>
            <a:off x="1143001" y="102091"/>
            <a:ext cx="9905998" cy="1095982"/>
          </a:xfrm>
        </p:spPr>
        <p:txBody>
          <a:bodyPr/>
          <a:lstStyle/>
          <a:p>
            <a:r>
              <a:rPr lang="en-US" dirty="0">
                <a:latin typeface="Times New Roman" panose="02020603050405020304" pitchFamily="18" charset="0"/>
                <a:cs typeface="Times New Roman" panose="02020603050405020304" pitchFamily="18" charset="0"/>
              </a:rPr>
              <a:t>Dashboard</a:t>
            </a:r>
          </a:p>
        </p:txBody>
      </p:sp>
      <p:pic>
        <p:nvPicPr>
          <p:cNvPr id="8" name="Picture 7">
            <a:extLst>
              <a:ext uri="{FF2B5EF4-FFF2-40B4-BE49-F238E27FC236}">
                <a16:creationId xmlns:a16="http://schemas.microsoft.com/office/drawing/2014/main" id="{2F45459B-CBCE-4372-92B2-4B04A6E7792F}"/>
              </a:ext>
            </a:extLst>
          </p:cNvPr>
          <p:cNvPicPr>
            <a:picLocks noChangeAspect="1"/>
          </p:cNvPicPr>
          <p:nvPr/>
        </p:nvPicPr>
        <p:blipFill>
          <a:blip r:embed="rId2"/>
          <a:stretch>
            <a:fillRect/>
          </a:stretch>
        </p:blipFill>
        <p:spPr>
          <a:xfrm>
            <a:off x="1143001" y="1298866"/>
            <a:ext cx="9905998" cy="5080196"/>
          </a:xfrm>
          <a:prstGeom prst="rect">
            <a:avLst/>
          </a:prstGeom>
        </p:spPr>
      </p:pic>
    </p:spTree>
    <p:extLst>
      <p:ext uri="{BB962C8B-B14F-4D97-AF65-F5344CB8AC3E}">
        <p14:creationId xmlns:p14="http://schemas.microsoft.com/office/powerpoint/2010/main" val="1669045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Key insights</a:t>
            </a:r>
          </a:p>
        </p:txBody>
      </p:sp>
      <p:sp>
        <p:nvSpPr>
          <p:cNvPr id="3" name="Content Placeholder 2">
            <a:extLst>
              <a:ext uri="{FF2B5EF4-FFF2-40B4-BE49-F238E27FC236}">
                <a16:creationId xmlns:a16="http://schemas.microsoft.com/office/drawing/2014/main" id="{E213A220-FE44-48A4-8FE9-24BB79039D5C}"/>
              </a:ext>
            </a:extLst>
          </p:cNvPr>
          <p:cNvSpPr>
            <a:spLocks noGrp="1"/>
          </p:cNvSpPr>
          <p:nvPr>
            <p:ph idx="1"/>
          </p:nvPr>
        </p:nvSpPr>
        <p:spPr>
          <a:xfrm>
            <a:off x="1141413" y="2097088"/>
            <a:ext cx="9905999" cy="3716973"/>
          </a:xfrm>
        </p:spPr>
        <p:txBody>
          <a:bodyPr>
            <a:normAutofit lnSpcReduction="10000"/>
          </a:bodyPr>
          <a:lstStyle/>
          <a:p>
            <a:r>
              <a:rPr lang="en-US" dirty="0">
                <a:latin typeface="Times New Roman" panose="02020603050405020304" pitchFamily="18" charset="0"/>
                <a:cs typeface="Times New Roman" panose="02020603050405020304" pitchFamily="18" charset="0"/>
              </a:rPr>
              <a:t>The dashboard reveals the West Region as the undisputed leader in performance, contributing approximately 31.6% of overall sales with strong, sustainable margins.</a:t>
            </a:r>
          </a:p>
          <a:p>
            <a:r>
              <a:rPr lang="en-US" dirty="0">
                <a:latin typeface="Times New Roman" panose="02020603050405020304" pitchFamily="18" charset="0"/>
                <a:cs typeface="Times New Roman" panose="02020603050405020304" pitchFamily="18" charset="0"/>
              </a:rPr>
              <a:t>Technology is the primary profit engine(Highest Margin). Furniture, despite driving significant transactional and logistics volume, represents less than 7% of total company profits.</a:t>
            </a:r>
          </a:p>
          <a:p>
            <a:r>
              <a:rPr lang="en-US" dirty="0">
                <a:latin typeface="Times New Roman" panose="02020603050405020304" pitchFamily="18" charset="0"/>
                <a:cs typeface="Times New Roman" panose="02020603050405020304" pitchFamily="18" charset="0"/>
              </a:rPr>
              <a:t>Office Supplies generated the highest volume of total units sold (highest quantity), driven by frequent, smaller-value transactions.</a:t>
            </a:r>
          </a:p>
        </p:txBody>
      </p:sp>
    </p:spTree>
    <p:extLst>
      <p:ext uri="{BB962C8B-B14F-4D97-AF65-F5344CB8AC3E}">
        <p14:creationId xmlns:p14="http://schemas.microsoft.com/office/powerpoint/2010/main" val="102825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recommendation</a:t>
            </a:r>
          </a:p>
        </p:txBody>
      </p:sp>
      <p:sp>
        <p:nvSpPr>
          <p:cNvPr id="3" name="Content Placeholder 2">
            <a:extLst>
              <a:ext uri="{FF2B5EF4-FFF2-40B4-BE49-F238E27FC236}">
                <a16:creationId xmlns:a16="http://schemas.microsoft.com/office/drawing/2014/main" id="{E213A220-FE44-48A4-8FE9-24BB79039D5C}"/>
              </a:ext>
            </a:extLst>
          </p:cNvPr>
          <p:cNvSpPr>
            <a:spLocks noGrp="1"/>
          </p:cNvSpPr>
          <p:nvPr>
            <p:ph idx="1"/>
          </p:nvPr>
        </p:nvSpPr>
        <p:spPr>
          <a:xfrm>
            <a:off x="1141412" y="2097088"/>
            <a:ext cx="9905999" cy="3694113"/>
          </a:xfrm>
        </p:spPr>
        <p:txBody>
          <a:bodyPr/>
          <a:lstStyle/>
          <a:p>
            <a:r>
              <a:rPr lang="en-US" dirty="0">
                <a:latin typeface="Times New Roman" panose="02020603050405020304" pitchFamily="18" charset="0"/>
                <a:cs typeface="Times New Roman" panose="02020603050405020304" pitchFamily="18" charset="0"/>
              </a:rPr>
              <a:t>Set strict caps on promotional discounts, especially in states like Texas and Illinois, to prevent high-volume sales from resulting in an absolute financial loss.</a:t>
            </a:r>
          </a:p>
          <a:p>
            <a:r>
              <a:rPr lang="en-US" dirty="0">
                <a:latin typeface="Times New Roman" panose="02020603050405020304" pitchFamily="18" charset="0"/>
                <a:cs typeface="Times New Roman" panose="02020603050405020304" pitchFamily="18" charset="0"/>
              </a:rPr>
              <a:t>Shift budget from heavy furniture storage and logistics to high-yield technology product categories like copiers, phones, and accessories.</a:t>
            </a:r>
          </a:p>
          <a:p>
            <a:r>
              <a:rPr lang="en-US" dirty="0">
                <a:latin typeface="Times New Roman" panose="02020603050405020304" pitchFamily="18" charset="0"/>
                <a:cs typeface="Times New Roman" panose="02020603050405020304" pitchFamily="18" charset="0"/>
              </a:rPr>
              <a:t>Restructure pricing or consider discontinuing the tables product line in underperforming markets to protect profit margins.</a:t>
            </a:r>
          </a:p>
        </p:txBody>
      </p:sp>
    </p:spTree>
    <p:extLst>
      <p:ext uri="{BB962C8B-B14F-4D97-AF65-F5344CB8AC3E}">
        <p14:creationId xmlns:p14="http://schemas.microsoft.com/office/powerpoint/2010/main" val="2083337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BA4C-D199-4DB5-967E-EC1A7784F7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E213A220-FE44-48A4-8FE9-24BB79039D5C}"/>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Shift to Margin-First:</a:t>
            </a:r>
            <a:r>
              <a:rPr lang="en-US" dirty="0">
                <a:latin typeface="Times New Roman" panose="02020603050405020304" pitchFamily="18" charset="0"/>
                <a:cs typeface="Times New Roman" panose="02020603050405020304" pitchFamily="18" charset="0"/>
              </a:rPr>
              <a:t> Transition from a revenue-driven mindset to strict profit-margin optimization.</a:t>
            </a:r>
          </a:p>
          <a:p>
            <a:r>
              <a:rPr lang="en-US" b="1" dirty="0">
                <a:latin typeface="Times New Roman" panose="02020603050405020304" pitchFamily="18" charset="0"/>
                <a:cs typeface="Times New Roman" panose="02020603050405020304" pitchFamily="18" charset="0"/>
              </a:rPr>
              <a:t>Scale What Works:</a:t>
            </a:r>
            <a:r>
              <a:rPr lang="en-US" dirty="0">
                <a:latin typeface="Times New Roman" panose="02020603050405020304" pitchFamily="18" charset="0"/>
                <a:cs typeface="Times New Roman" panose="02020603050405020304" pitchFamily="18" charset="0"/>
              </a:rPr>
              <a:t> Duplicate the success of the West Region and heavily prioritize high-yield Technology lines.</a:t>
            </a:r>
          </a:p>
          <a:p>
            <a:r>
              <a:rPr lang="en-US" b="1" dirty="0">
                <a:latin typeface="Times New Roman" panose="02020603050405020304" pitchFamily="18" charset="0"/>
                <a:cs typeface="Times New Roman" panose="02020603050405020304" pitchFamily="18" charset="0"/>
              </a:rPr>
              <a:t>Plug the Leaks:</a:t>
            </a:r>
            <a:r>
              <a:rPr lang="en-US" dirty="0">
                <a:latin typeface="Times New Roman" panose="02020603050405020304" pitchFamily="18" charset="0"/>
                <a:cs typeface="Times New Roman" panose="02020603050405020304" pitchFamily="18" charset="0"/>
              </a:rPr>
              <a:t> Implement immediate discount caps in Texas and Illinois, and restructure or drop the Tables line in low-performing markets.</a:t>
            </a:r>
          </a:p>
          <a:p>
            <a:pPr marL="0" indent="0">
              <a:buNone/>
            </a:pPr>
            <a:r>
              <a:rPr lang="en-US" b="1" dirty="0">
                <a:latin typeface="Times New Roman" panose="02020603050405020304" pitchFamily="18" charset="0"/>
                <a:cs typeface="Times New Roman" panose="02020603050405020304" pitchFamily="18" charset="0"/>
              </a:rPr>
              <a:t>The Bottom Line:</a:t>
            </a:r>
            <a:r>
              <a:rPr lang="en-US" dirty="0">
                <a:latin typeface="Times New Roman" panose="02020603050405020304" pitchFamily="18" charset="0"/>
                <a:cs typeface="Times New Roman" panose="02020603050405020304" pitchFamily="18" charset="0"/>
              </a:rPr>
              <a:t> Turn high sales volume into actual net profit.</a:t>
            </a:r>
          </a:p>
        </p:txBody>
      </p:sp>
    </p:spTree>
    <p:extLst>
      <p:ext uri="{BB962C8B-B14F-4D97-AF65-F5344CB8AC3E}">
        <p14:creationId xmlns:p14="http://schemas.microsoft.com/office/powerpoint/2010/main" val="26597745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1490</TotalTime>
  <Words>514</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Tw Cen MT</vt:lpstr>
      <vt:lpstr>Circuit</vt:lpstr>
      <vt:lpstr>Superstore business report</vt:lpstr>
      <vt:lpstr>Dataset overview</vt:lpstr>
      <vt:lpstr>Data cleaning and preparation</vt:lpstr>
      <vt:lpstr>Business question</vt:lpstr>
      <vt:lpstr>Kpis defined</vt:lpstr>
      <vt:lpstr>Dashboard</vt:lpstr>
      <vt:lpstr>Dashboard</vt:lpstr>
      <vt:lpstr>Key insights</vt:lpstr>
      <vt:lpstr>recommendation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Joy Akeji</dc:creator>
  <cp:lastModifiedBy>Joy Akeji</cp:lastModifiedBy>
  <cp:revision>16</cp:revision>
  <dcterms:created xsi:type="dcterms:W3CDTF">2026-06-25T12:39:24Z</dcterms:created>
  <dcterms:modified xsi:type="dcterms:W3CDTF">2026-06-26T13:29:33Z</dcterms:modified>
</cp:coreProperties>
</file>