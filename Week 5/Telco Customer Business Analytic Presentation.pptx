
<file path=[Content_Types].xml><?xml version="1.0" encoding="utf-8"?>
<Types xmlns="http://schemas.openxmlformats.org/package/2006/content-types">
  <Default Extension="fntdata" ContentType="application/x-fontdata"/>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Lst>
  <p:notesMasterIdLst>
    <p:notesMasterId r:id="rId12"/>
  </p:notesMasterIdLst>
  <p:sldIdLst>
    <p:sldId id="256" r:id="rId2"/>
    <p:sldId id="257" r:id="rId3"/>
    <p:sldId id="258" r:id="rId4"/>
    <p:sldId id="265" r:id="rId5"/>
    <p:sldId id="259" r:id="rId6"/>
    <p:sldId id="260" r:id="rId7"/>
    <p:sldId id="266" r:id="rId8"/>
    <p:sldId id="261" r:id="rId9"/>
    <p:sldId id="262" r:id="rId10"/>
    <p:sldId id="263" r:id="rId11"/>
  </p:sldIdLst>
  <p:sldSz cx="9144000" cy="5143500" type="screen16x9"/>
  <p:notesSz cx="6858000" cy="9144000"/>
  <p:embeddedFontLst>
    <p:embeddedFont>
      <p:font typeface="Century Gothic" panose="020B0502020202020204" pitchFamily="34" charset="0"/>
      <p:regular r:id="rId13"/>
      <p:bold r:id="rId14"/>
      <p:italic r:id="rId15"/>
      <p:boldItalic r:id="rId16"/>
    </p:embeddedFont>
    <p:embeddedFont>
      <p:font typeface="Wingdings 3" panose="05040102010807070707" pitchFamily="18" charset="2"/>
      <p:regular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92E7"/>
    <a:srgbClr val="E3AFDD"/>
    <a:srgbClr val="CE74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68" autoAdjust="0"/>
    <p:restoredTop sz="94660"/>
  </p:normalViewPr>
  <p:slideViewPr>
    <p:cSldViewPr snapToGrid="0">
      <p:cViewPr varScale="1">
        <p:scale>
          <a:sx n="89" d="100"/>
          <a:sy n="89" d="100"/>
        </p:scale>
        <p:origin x="210"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f1e6d464b7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f1e6d464b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f1e6d464b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f1e6d464b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f1e6d464b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f1e6d464b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f1e6d464b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f1e6d464b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98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f1e6d464b7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f1e6d464b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f1e6d464b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f1e6d464b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f1e6d464b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f1e6d464b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4746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f1e6d464b7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f1e6d464b7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f1e6d464b7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f1e6d464b7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f1e6d464b7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f1e6d464b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1885950"/>
            <a:ext cx="6686549" cy="1697086"/>
          </a:xfrm>
        </p:spPr>
        <p:txBody>
          <a:bodyPr anchor="b">
            <a:normAutofit/>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1941910" y="3583035"/>
            <a:ext cx="6686549" cy="844712"/>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3242858"/>
            <a:ext cx="1308489" cy="583942"/>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3397155"/>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7053664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468082"/>
            <a:ext cx="6683765" cy="960668"/>
          </a:xfrm>
        </p:spPr>
        <p:txBody>
          <a:bodyPr/>
          <a:lstStyle/>
          <a:p>
            <a:r>
              <a:rPr lang="en-US"/>
              <a:t>Click to edit Master title style</a:t>
            </a:r>
            <a:endParaRPr lang="en-US" dirty="0"/>
          </a:p>
        </p:txBody>
      </p:sp>
      <p:sp>
        <p:nvSpPr>
          <p:cNvPr id="3" name="Content Placeholder 2"/>
          <p:cNvSpPr>
            <a:spLocks noGrp="1"/>
          </p:cNvSpPr>
          <p:nvPr>
            <p:ph idx="1"/>
          </p:nvPr>
        </p:nvSpPr>
        <p:spPr>
          <a:xfrm>
            <a:off x="1941909" y="1600200"/>
            <a:ext cx="6686550" cy="28332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3151425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1910" y="1544063"/>
            <a:ext cx="6686549" cy="1101600"/>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2647597"/>
            <a:ext cx="6686549" cy="645300"/>
          </a:xfrm>
        </p:spPr>
        <p:txBody>
          <a:bodyPr anchor="t"/>
          <a:lstStyle>
            <a:lvl1pPr marL="0" indent="0" algn="l">
              <a:buNone/>
              <a:defRPr sz="150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0325617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1909" y="1600200"/>
            <a:ext cx="3235398" cy="28332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93060" y="1594666"/>
            <a:ext cx="3235398" cy="28332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590837"/>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9048155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04530" y="1479527"/>
            <a:ext cx="2994549"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41909" y="1911725"/>
            <a:ext cx="3257170" cy="25155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29972" y="1477106"/>
            <a:ext cx="2999251"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375218" y="1909304"/>
            <a:ext cx="3254006" cy="25155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590837"/>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88985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5393821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24726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334566"/>
            <a:ext cx="2628899" cy="732234"/>
          </a:xfrm>
        </p:spPr>
        <p:txBody>
          <a:bodyPr anchor="b"/>
          <a:lstStyle>
            <a:lvl1pPr algn="l">
              <a:defRPr sz="1500" b="0"/>
            </a:lvl1pPr>
          </a:lstStyle>
          <a:p>
            <a:r>
              <a:rPr lang="en-US"/>
              <a:t>Click to edit Master title style</a:t>
            </a:r>
            <a:endParaRPr lang="en-US" dirty="0"/>
          </a:p>
        </p:txBody>
      </p:sp>
      <p:sp>
        <p:nvSpPr>
          <p:cNvPr id="3" name="Content Placeholder 2"/>
          <p:cNvSpPr>
            <a:spLocks noGrp="1"/>
          </p:cNvSpPr>
          <p:nvPr>
            <p:ph idx="1"/>
          </p:nvPr>
        </p:nvSpPr>
        <p:spPr>
          <a:xfrm>
            <a:off x="4742259" y="334567"/>
            <a:ext cx="3886200" cy="4061222"/>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1910" y="1198960"/>
            <a:ext cx="2628899" cy="319682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658534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3600450"/>
            <a:ext cx="668655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1909" y="476224"/>
            <a:ext cx="6686550" cy="289122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941910" y="4025504"/>
            <a:ext cx="6686550"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891055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57200"/>
            <a:ext cx="6686549" cy="2337780"/>
          </a:xfrm>
        </p:spPr>
        <p:txBody>
          <a:bodyPr anchor="ctr">
            <a:normAutofit/>
          </a:bodyPr>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8817143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56259" y="2628900"/>
            <a:ext cx="5652416"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4" name="TextBox 13"/>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5" name="TextBox 14"/>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080187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1910" y="1828800"/>
            <a:ext cx="6686550" cy="2043634"/>
          </a:xfrm>
        </p:spPr>
        <p:txBody>
          <a:bodyPr anchor="b">
            <a:normAutofit/>
          </a:bodyPr>
          <a:lstStyle>
            <a:lvl1pPr algn="l">
              <a:defRPr sz="3600" b="0"/>
            </a:lvl1pPr>
          </a:lstStyle>
          <a:p>
            <a:r>
              <a:rPr lang="en-US"/>
              <a:t>Click to edit Master title style</a:t>
            </a:r>
            <a:endParaRPr lang="en-US" dirty="0"/>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0057634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7" name="TextBox 16"/>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8" name="TextBox 17"/>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9041341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1910" y="470555"/>
            <a:ext cx="6686549" cy="2160015"/>
          </a:xfrm>
        </p:spPr>
        <p:txBody>
          <a:bodyPr anchor="ctr">
            <a:normAutofit/>
          </a:bodyPr>
          <a:lstStyle>
            <a:lvl1pPr algn="l">
              <a:defRPr sz="3600" b="0"/>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45604698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538956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470554"/>
            <a:ext cx="1655701" cy="3962863"/>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1909" y="470554"/>
            <a:ext cx="4857750" cy="39628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1595714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923384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0000"/>
                <a:satMod val="92000"/>
                <a:lumMod val="120000"/>
              </a:schemeClr>
            </a:gs>
            <a:gs pos="50000">
              <a:srgbClr val="E3AFDD"/>
            </a:gs>
            <a:gs pos="100000">
              <a:srgbClr val="EE92E7"/>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171450"/>
            <a:ext cx="2138637" cy="4978971"/>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589"/>
            <a:ext cx="1767506" cy="514052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468082"/>
            <a:ext cx="6683765" cy="9606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1909" y="1600200"/>
            <a:ext cx="6686550" cy="29146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1210" y="4597828"/>
            <a:ext cx="859712" cy="277797"/>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smtClean="0"/>
              <a:pPr/>
              <a:t>7/6/2026</a:t>
            </a:fld>
            <a:endParaRPr lang="en-US" dirty="0"/>
          </a:p>
        </p:txBody>
      </p:sp>
      <p:sp>
        <p:nvSpPr>
          <p:cNvPr id="5" name="Footer Placeholder 4"/>
          <p:cNvSpPr>
            <a:spLocks noGrp="1"/>
          </p:cNvSpPr>
          <p:nvPr>
            <p:ph type="ftr" sz="quarter" idx="3"/>
          </p:nvPr>
        </p:nvSpPr>
        <p:spPr>
          <a:xfrm>
            <a:off x="1941910" y="4601856"/>
            <a:ext cx="571499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398860" y="590837"/>
            <a:ext cx="584825" cy="273844"/>
          </a:xfrm>
          <a:prstGeom prst="rect">
            <a:avLst/>
          </a:prstGeom>
        </p:spPr>
        <p:txBody>
          <a:bodyPr vert="horz" lIns="91440" tIns="45720" rIns="91440" bIns="45720" rtlCol="0" anchor="ctr"/>
          <a:lstStyle>
            <a:lvl1pPr algn="r">
              <a:defRPr sz="1500">
                <a:solidFill>
                  <a:srgbClr val="FEFFFF"/>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51660340"/>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Lst>
  <p:hf sldNum="0" hdr="0" ftr="0" dt="0"/>
  <p:txStyles>
    <p:titleStyle>
      <a:lvl1pPr algn="l" defTabSz="342900" rtl="0" eaLnBrk="1" latinLnBrk="0" hangingPunct="1">
        <a:spcBef>
          <a:spcPct val="0"/>
        </a:spcBef>
        <a:buNone/>
        <a:defRPr sz="27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Box 1">
            <a:extLst>
              <a:ext uri="{FF2B5EF4-FFF2-40B4-BE49-F238E27FC236}">
                <a16:creationId xmlns:a16="http://schemas.microsoft.com/office/drawing/2014/main" id="{327EC1FC-938C-400D-99AE-DD5EBBDCD542}"/>
              </a:ext>
            </a:extLst>
          </p:cNvPr>
          <p:cNvSpPr txBox="1"/>
          <p:nvPr/>
        </p:nvSpPr>
        <p:spPr>
          <a:xfrm>
            <a:off x="1194099" y="914400"/>
            <a:ext cx="6766559" cy="1200329"/>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Telco  Customer Churn Analysis</a:t>
            </a:r>
          </a:p>
          <a:p>
            <a:pPr algn="ctr"/>
            <a:r>
              <a:rPr lang="en-US" sz="3600" b="1" dirty="0">
                <a:latin typeface="Times New Roman" panose="02020603050405020304" pitchFamily="18" charset="0"/>
                <a:cs typeface="Times New Roman" panose="02020603050405020304" pitchFamily="18" charset="0"/>
              </a:rPr>
              <a:t>Business Analytics Case Study</a:t>
            </a:r>
          </a:p>
        </p:txBody>
      </p:sp>
      <p:sp>
        <p:nvSpPr>
          <p:cNvPr id="4" name="TextBox 3">
            <a:extLst>
              <a:ext uri="{FF2B5EF4-FFF2-40B4-BE49-F238E27FC236}">
                <a16:creationId xmlns:a16="http://schemas.microsoft.com/office/drawing/2014/main" id="{370ABE05-E606-44AF-8D65-967143C5230F}"/>
              </a:ext>
            </a:extLst>
          </p:cNvPr>
          <p:cNvSpPr txBox="1"/>
          <p:nvPr/>
        </p:nvSpPr>
        <p:spPr>
          <a:xfrm>
            <a:off x="1281953" y="2571750"/>
            <a:ext cx="676655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Presented by Joy Akeji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p:txBody>
          <a:bodyPr>
            <a:normAutofit fontScale="90000"/>
          </a:bodyPr>
          <a:lstStyle/>
          <a:p>
            <a:pPr lvl="0"/>
            <a:r>
              <a:rPr lang="en-US" dirty="0"/>
              <a:t>The Problem Statement</a:t>
            </a:r>
          </a:p>
        </p:txBody>
      </p:sp>
      <p:sp>
        <p:nvSpPr>
          <p:cNvPr id="60" name="Google Shape;60;p14"/>
          <p:cNvSpPr txBox="1">
            <a:spLocks noGrp="1"/>
          </p:cNvSpPr>
          <p:nvPr>
            <p:ph type="body" idx="1"/>
          </p:nvPr>
        </p:nvSpPr>
        <p:spPr/>
        <p:txBody>
          <a:bodyPr/>
          <a:lstStyle/>
          <a:p>
            <a:r>
              <a:rPr lang="en-US" dirty="0"/>
              <a:t>The telecommunications company is experiencing customer churn, resulting in lost revenue and reduced customer lifetime value. Management needs to understand why customers are leaving and identify the customer segments most at risk.</a:t>
            </a:r>
          </a:p>
          <a:p>
            <a:endParaRPr lang="en-US" dirty="0"/>
          </a:p>
          <a:p>
            <a:r>
              <a:rPr lang="en-US" dirty="0"/>
              <a:t>This analysis aims to answer the following business questions:</a:t>
            </a:r>
          </a:p>
          <a:p>
            <a:r>
              <a:rPr lang="en-US" dirty="0"/>
              <a:t>What is the overall customer churn rate? </a:t>
            </a:r>
          </a:p>
          <a:p>
            <a:r>
              <a:rPr lang="en-US" dirty="0"/>
              <a:t>Which customer groups are most likely to churn? </a:t>
            </a:r>
          </a:p>
          <a:p>
            <a:r>
              <a:rPr lang="en-US" dirty="0"/>
              <a:t>What factors contribute to customer churn? </a:t>
            </a:r>
          </a:p>
          <a:p>
            <a:r>
              <a:rPr lang="en-US" dirty="0"/>
              <a:t>What actions can the company take to improve customer retention?</a:t>
            </a:r>
          </a:p>
          <a:p>
            <a:pPr lvl="0"/>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1473199" y="445025"/>
            <a:ext cx="2624667" cy="4585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Times New Roman" panose="02020603050405020304" pitchFamily="18" charset="0"/>
                <a:cs typeface="Times New Roman" panose="02020603050405020304" pitchFamily="18" charset="0"/>
              </a:rPr>
              <a:t>Data Description </a:t>
            </a:r>
            <a:endParaRPr sz="2400" dirty="0">
              <a:latin typeface="Times New Roman" panose="02020603050405020304" pitchFamily="18" charset="0"/>
              <a:cs typeface="Times New Roman" panose="02020603050405020304" pitchFamily="18" charset="0"/>
            </a:endParaRPr>
          </a:p>
        </p:txBody>
      </p:sp>
      <p:sp>
        <p:nvSpPr>
          <p:cNvPr id="66" name="Google Shape;66;p15"/>
          <p:cNvSpPr txBox="1">
            <a:spLocks noGrp="1"/>
          </p:cNvSpPr>
          <p:nvPr>
            <p:ph type="body" idx="1"/>
          </p:nvPr>
        </p:nvSpPr>
        <p:spPr>
          <a:xfrm>
            <a:off x="1473199" y="685545"/>
            <a:ext cx="7328286" cy="505108"/>
          </a:xfrm>
          <a:prstGeom prst="rect">
            <a:avLst/>
          </a:prstGeom>
        </p:spPr>
        <p:txBody>
          <a:bodyPr spcFirstLastPara="1" wrap="square" lIns="91425" tIns="91425" rIns="91425" bIns="91425" anchor="t" anchorCtr="0">
            <a:noAutofit/>
          </a:bodyPr>
          <a:lstStyle/>
          <a:p>
            <a:pPr marL="0" lvl="0" indent="0">
              <a:spcBef>
                <a:spcPts val="1200"/>
              </a:spcBef>
              <a:buClr>
                <a:schemeClr val="dk1"/>
              </a:buClr>
              <a:buSzPts val="1100"/>
              <a:buNone/>
            </a:pPr>
            <a:r>
              <a:rPr lang="en-US" sz="1400" dirty="0">
                <a:latin typeface="Times New Roman" panose="02020603050405020304" pitchFamily="18" charset="0"/>
                <a:cs typeface="Times New Roman" panose="02020603050405020304" pitchFamily="18" charset="0"/>
              </a:rPr>
              <a:t>The dataset contains information for </a:t>
            </a:r>
            <a:r>
              <a:rPr lang="en-US" sz="1400" b="1" dirty="0">
                <a:latin typeface="Times New Roman" panose="02020603050405020304" pitchFamily="18" charset="0"/>
                <a:cs typeface="Times New Roman" panose="02020603050405020304" pitchFamily="18" charset="0"/>
              </a:rPr>
              <a:t>7,043 telecom customers</a:t>
            </a:r>
            <a:r>
              <a:rPr lang="en-US" sz="1400" dirty="0">
                <a:latin typeface="Times New Roman" panose="02020603050405020304" pitchFamily="18" charset="0"/>
                <a:cs typeface="Times New Roman" panose="02020603050405020304" pitchFamily="18" charset="0"/>
              </a:rPr>
              <a:t> and includes demographic details, subscribed services, billing information, and customer churn status.</a:t>
            </a:r>
            <a:endParaRPr sz="1400" dirty="0">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609295DD-28B8-4999-B14C-F722FFAF8763}"/>
              </a:ext>
            </a:extLst>
          </p:cNvPr>
          <p:cNvGraphicFramePr>
            <a:graphicFrameLocks noGrp="1"/>
          </p:cNvGraphicFramePr>
          <p:nvPr>
            <p:extLst>
              <p:ext uri="{D42A27DB-BD31-4B8C-83A1-F6EECF244321}">
                <p14:modId xmlns:p14="http://schemas.microsoft.com/office/powerpoint/2010/main" val="423687244"/>
              </p:ext>
            </p:extLst>
          </p:nvPr>
        </p:nvGraphicFramePr>
        <p:xfrm>
          <a:off x="1592132" y="2027532"/>
          <a:ext cx="4775202" cy="2377440"/>
        </p:xfrm>
        <a:graphic>
          <a:graphicData uri="http://schemas.openxmlformats.org/drawingml/2006/table">
            <a:tbl>
              <a:tblPr firstRow="1" bandRow="1">
                <a:tableStyleId>{5C22544A-7EE6-4342-B048-85BDC9FD1C3A}</a:tableStyleId>
              </a:tblPr>
              <a:tblGrid>
                <a:gridCol w="2387601">
                  <a:extLst>
                    <a:ext uri="{9D8B030D-6E8A-4147-A177-3AD203B41FA5}">
                      <a16:colId xmlns:a16="http://schemas.microsoft.com/office/drawing/2014/main" val="339389582"/>
                    </a:ext>
                  </a:extLst>
                </a:gridCol>
                <a:gridCol w="2387601">
                  <a:extLst>
                    <a:ext uri="{9D8B030D-6E8A-4147-A177-3AD203B41FA5}">
                      <a16:colId xmlns:a16="http://schemas.microsoft.com/office/drawing/2014/main" val="2274332512"/>
                    </a:ext>
                  </a:extLst>
                </a:gridCol>
              </a:tblGrid>
              <a:tr h="226028">
                <a:tc>
                  <a:txBody>
                    <a:bodyPr/>
                    <a:lstStyle/>
                    <a:p>
                      <a:r>
                        <a:rPr lang="en-US" dirty="0"/>
                        <a:t>Metric</a:t>
                      </a:r>
                    </a:p>
                  </a:txBody>
                  <a:tcPr anchor="ctr">
                    <a:solidFill>
                      <a:srgbClr val="EE92E7"/>
                    </a:solidFill>
                  </a:tcPr>
                </a:tc>
                <a:tc>
                  <a:txBody>
                    <a:bodyPr/>
                    <a:lstStyle/>
                    <a:p>
                      <a:pPr algn="r"/>
                      <a:r>
                        <a:rPr lang="en-US" dirty="0"/>
                        <a:t>Value</a:t>
                      </a:r>
                    </a:p>
                  </a:txBody>
                  <a:tcPr anchor="ctr">
                    <a:solidFill>
                      <a:srgbClr val="EE92E7"/>
                    </a:solidFill>
                  </a:tcPr>
                </a:tc>
                <a:extLst>
                  <a:ext uri="{0D108BD9-81ED-4DB2-BD59-A6C34878D82A}">
                    <a16:rowId xmlns:a16="http://schemas.microsoft.com/office/drawing/2014/main" val="2556380187"/>
                  </a:ext>
                </a:extLst>
              </a:tr>
              <a:tr h="226028">
                <a:tc>
                  <a:txBody>
                    <a:bodyPr/>
                    <a:lstStyle/>
                    <a:p>
                      <a:r>
                        <a:rPr lang="en-US"/>
                        <a:t>Total Customers</a:t>
                      </a:r>
                    </a:p>
                  </a:txBody>
                  <a:tcPr anchor="ctr"/>
                </a:tc>
                <a:tc>
                  <a:txBody>
                    <a:bodyPr/>
                    <a:lstStyle/>
                    <a:p>
                      <a:pPr algn="r"/>
                      <a:r>
                        <a:rPr lang="en-US"/>
                        <a:t>7,043</a:t>
                      </a:r>
                    </a:p>
                  </a:txBody>
                  <a:tcPr anchor="ctr"/>
                </a:tc>
                <a:extLst>
                  <a:ext uri="{0D108BD9-81ED-4DB2-BD59-A6C34878D82A}">
                    <a16:rowId xmlns:a16="http://schemas.microsoft.com/office/drawing/2014/main" val="1506832143"/>
                  </a:ext>
                </a:extLst>
              </a:tr>
              <a:tr h="226028">
                <a:tc>
                  <a:txBody>
                    <a:bodyPr/>
                    <a:lstStyle/>
                    <a:p>
                      <a:r>
                        <a:rPr lang="en-US"/>
                        <a:t>Active Customers</a:t>
                      </a:r>
                    </a:p>
                  </a:txBody>
                  <a:tcPr anchor="ctr"/>
                </a:tc>
                <a:tc>
                  <a:txBody>
                    <a:bodyPr/>
                    <a:lstStyle/>
                    <a:p>
                      <a:pPr algn="r"/>
                      <a:r>
                        <a:rPr lang="en-US"/>
                        <a:t>5,174</a:t>
                      </a:r>
                    </a:p>
                  </a:txBody>
                  <a:tcPr anchor="ctr"/>
                </a:tc>
                <a:extLst>
                  <a:ext uri="{0D108BD9-81ED-4DB2-BD59-A6C34878D82A}">
                    <a16:rowId xmlns:a16="http://schemas.microsoft.com/office/drawing/2014/main" val="4264221784"/>
                  </a:ext>
                </a:extLst>
              </a:tr>
              <a:tr h="226028">
                <a:tc>
                  <a:txBody>
                    <a:bodyPr/>
                    <a:lstStyle/>
                    <a:p>
                      <a:r>
                        <a:rPr lang="en-US"/>
                        <a:t>Churned Customers</a:t>
                      </a:r>
                    </a:p>
                  </a:txBody>
                  <a:tcPr anchor="ctr"/>
                </a:tc>
                <a:tc>
                  <a:txBody>
                    <a:bodyPr/>
                    <a:lstStyle/>
                    <a:p>
                      <a:pPr algn="r"/>
                      <a:r>
                        <a:rPr lang="en-US"/>
                        <a:t>1,869</a:t>
                      </a:r>
                    </a:p>
                  </a:txBody>
                  <a:tcPr anchor="ctr"/>
                </a:tc>
                <a:extLst>
                  <a:ext uri="{0D108BD9-81ED-4DB2-BD59-A6C34878D82A}">
                    <a16:rowId xmlns:a16="http://schemas.microsoft.com/office/drawing/2014/main" val="3305021284"/>
                  </a:ext>
                </a:extLst>
              </a:tr>
              <a:tr h="226028">
                <a:tc>
                  <a:txBody>
                    <a:bodyPr/>
                    <a:lstStyle/>
                    <a:p>
                      <a:r>
                        <a:rPr lang="en-US"/>
                        <a:t>Churn Rate</a:t>
                      </a:r>
                    </a:p>
                  </a:txBody>
                  <a:tcPr anchor="ctr"/>
                </a:tc>
                <a:tc>
                  <a:txBody>
                    <a:bodyPr/>
                    <a:lstStyle/>
                    <a:p>
                      <a:pPr algn="r"/>
                      <a:r>
                        <a:rPr lang="en-US"/>
                        <a:t>26.54%</a:t>
                      </a:r>
                    </a:p>
                  </a:txBody>
                  <a:tcPr anchor="ctr"/>
                </a:tc>
                <a:extLst>
                  <a:ext uri="{0D108BD9-81ED-4DB2-BD59-A6C34878D82A}">
                    <a16:rowId xmlns:a16="http://schemas.microsoft.com/office/drawing/2014/main" val="1220533067"/>
                  </a:ext>
                </a:extLst>
              </a:tr>
              <a:tr h="226028">
                <a:tc>
                  <a:txBody>
                    <a:bodyPr/>
                    <a:lstStyle/>
                    <a:p>
                      <a:r>
                        <a:rPr lang="en-US"/>
                        <a:t>Average Tenure</a:t>
                      </a:r>
                    </a:p>
                  </a:txBody>
                  <a:tcPr anchor="ctr"/>
                </a:tc>
                <a:tc>
                  <a:txBody>
                    <a:bodyPr/>
                    <a:lstStyle/>
                    <a:p>
                      <a:pPr algn="r"/>
                      <a:r>
                        <a:rPr lang="en-US"/>
                        <a:t>32.37 Months</a:t>
                      </a:r>
                    </a:p>
                  </a:txBody>
                  <a:tcPr anchor="ctr"/>
                </a:tc>
                <a:extLst>
                  <a:ext uri="{0D108BD9-81ED-4DB2-BD59-A6C34878D82A}">
                    <a16:rowId xmlns:a16="http://schemas.microsoft.com/office/drawing/2014/main" val="2874716377"/>
                  </a:ext>
                </a:extLst>
              </a:tr>
              <a:tr h="226028">
                <a:tc>
                  <a:txBody>
                    <a:bodyPr/>
                    <a:lstStyle/>
                    <a:p>
                      <a:r>
                        <a:rPr lang="en-US"/>
                        <a:t>Average Monthly Charges</a:t>
                      </a:r>
                    </a:p>
                  </a:txBody>
                  <a:tcPr anchor="ctr"/>
                </a:tc>
                <a:tc>
                  <a:txBody>
                    <a:bodyPr/>
                    <a:lstStyle/>
                    <a:p>
                      <a:pPr algn="r"/>
                      <a:r>
                        <a:rPr lang="en-US"/>
                        <a:t>$64.76</a:t>
                      </a:r>
                    </a:p>
                  </a:txBody>
                  <a:tcPr anchor="ctr"/>
                </a:tc>
                <a:extLst>
                  <a:ext uri="{0D108BD9-81ED-4DB2-BD59-A6C34878D82A}">
                    <a16:rowId xmlns:a16="http://schemas.microsoft.com/office/drawing/2014/main" val="2222764261"/>
                  </a:ext>
                </a:extLst>
              </a:tr>
              <a:tr h="226028">
                <a:tc>
                  <a:txBody>
                    <a:bodyPr/>
                    <a:lstStyle/>
                    <a:p>
                      <a:r>
                        <a:rPr lang="en-US" dirty="0"/>
                        <a:t>Monthly Revenue at Risk</a:t>
                      </a:r>
                    </a:p>
                  </a:txBody>
                  <a:tcPr anchor="ctr"/>
                </a:tc>
                <a:tc>
                  <a:txBody>
                    <a:bodyPr/>
                    <a:lstStyle/>
                    <a:p>
                      <a:pPr algn="r"/>
                      <a:r>
                        <a:rPr lang="en-US" dirty="0"/>
                        <a:t>$139.13K</a:t>
                      </a:r>
                    </a:p>
                  </a:txBody>
                  <a:tcPr anchor="ctr"/>
                </a:tc>
                <a:extLst>
                  <a:ext uri="{0D108BD9-81ED-4DB2-BD59-A6C34878D82A}">
                    <a16:rowId xmlns:a16="http://schemas.microsoft.com/office/drawing/2014/main" val="1614460731"/>
                  </a:ext>
                </a:extLst>
              </a:tr>
            </a:tbl>
          </a:graphicData>
        </a:graphic>
      </p:graphicFrame>
      <p:sp>
        <p:nvSpPr>
          <p:cNvPr id="7" name="Google Shape;65;p15">
            <a:extLst>
              <a:ext uri="{FF2B5EF4-FFF2-40B4-BE49-F238E27FC236}">
                <a16:creationId xmlns:a16="http://schemas.microsoft.com/office/drawing/2014/main" id="{7C5AFE2A-6AA2-4328-B3FB-085F737EBB8E}"/>
              </a:ext>
            </a:extLst>
          </p:cNvPr>
          <p:cNvSpPr txBox="1">
            <a:spLocks/>
          </p:cNvSpPr>
          <p:nvPr/>
        </p:nvSpPr>
        <p:spPr>
          <a:xfrm>
            <a:off x="1592132" y="1400200"/>
            <a:ext cx="2387600" cy="417785"/>
          </a:xfrm>
          <a:prstGeom prst="rect">
            <a:avLst/>
          </a:prstGeom>
          <a:effectLst/>
        </p:spPr>
        <p:txBody>
          <a:bodyPr spcFirstLastPara="1" vert="horz" wrap="square" lIns="91425" tIns="91425" rIns="91425" bIns="91425" rtlCol="0" anchor="t" anchorCtr="0">
            <a:noAutofit/>
          </a:bodyPr>
          <a:lstStyle>
            <a:lvl1pPr lvl="0" algn="ctr" defTabSz="342900" rtl="0" eaLnBrk="1" latinLnBrk="0" hangingPunct="1">
              <a:spcBef>
                <a:spcPts val="0"/>
              </a:spcBef>
              <a:spcAft>
                <a:spcPts val="0"/>
              </a:spcAft>
              <a:buSzPts val="2800"/>
              <a:buNone/>
              <a:defRPr sz="3000" kern="1200" cap="none">
                <a:ln w="3175" cmpd="sng">
                  <a:noFill/>
                </a:ln>
                <a:solidFill>
                  <a:schemeClr val="tx1"/>
                </a:solidFill>
                <a:effectLst/>
                <a:latin typeface="+mj-lt"/>
                <a:ea typeface="+mj-ea"/>
                <a:cs typeface="+mj-cs"/>
              </a:defRPr>
            </a:lvl1pPr>
            <a:lvl2pPr lvl="1" eaLnBrk="1" hangingPunct="1">
              <a:spcBef>
                <a:spcPts val="0"/>
              </a:spcBef>
              <a:spcAft>
                <a:spcPts val="0"/>
              </a:spcAft>
              <a:buSzPts val="2800"/>
              <a:buNone/>
              <a:defRPr>
                <a:solidFill>
                  <a:schemeClr val="tx2"/>
                </a:solidFill>
              </a:defRPr>
            </a:lvl2pPr>
            <a:lvl3pPr lvl="2" eaLnBrk="1" hangingPunct="1">
              <a:spcBef>
                <a:spcPts val="0"/>
              </a:spcBef>
              <a:spcAft>
                <a:spcPts val="0"/>
              </a:spcAft>
              <a:buSzPts val="2800"/>
              <a:buNone/>
              <a:defRPr>
                <a:solidFill>
                  <a:schemeClr val="tx2"/>
                </a:solidFill>
              </a:defRPr>
            </a:lvl3pPr>
            <a:lvl4pPr lvl="3" eaLnBrk="1" hangingPunct="1">
              <a:spcBef>
                <a:spcPts val="0"/>
              </a:spcBef>
              <a:spcAft>
                <a:spcPts val="0"/>
              </a:spcAft>
              <a:buSzPts val="2800"/>
              <a:buNone/>
              <a:defRPr>
                <a:solidFill>
                  <a:schemeClr val="tx2"/>
                </a:solidFill>
              </a:defRPr>
            </a:lvl4pPr>
            <a:lvl5pPr lvl="4" eaLnBrk="1" hangingPunct="1">
              <a:spcBef>
                <a:spcPts val="0"/>
              </a:spcBef>
              <a:spcAft>
                <a:spcPts val="0"/>
              </a:spcAft>
              <a:buSzPts val="2800"/>
              <a:buNone/>
              <a:defRPr>
                <a:solidFill>
                  <a:schemeClr val="tx2"/>
                </a:solidFill>
              </a:defRPr>
            </a:lvl5pPr>
            <a:lvl6pPr lvl="5" eaLnBrk="1" hangingPunct="1">
              <a:spcBef>
                <a:spcPts val="0"/>
              </a:spcBef>
              <a:spcAft>
                <a:spcPts val="0"/>
              </a:spcAft>
              <a:buSzPts val="2800"/>
              <a:buNone/>
              <a:defRPr>
                <a:solidFill>
                  <a:schemeClr val="tx2"/>
                </a:solidFill>
              </a:defRPr>
            </a:lvl6pPr>
            <a:lvl7pPr lvl="6" eaLnBrk="1" hangingPunct="1">
              <a:spcBef>
                <a:spcPts val="0"/>
              </a:spcBef>
              <a:spcAft>
                <a:spcPts val="0"/>
              </a:spcAft>
              <a:buSzPts val="2800"/>
              <a:buNone/>
              <a:defRPr>
                <a:solidFill>
                  <a:schemeClr val="tx2"/>
                </a:solidFill>
              </a:defRPr>
            </a:lvl7pPr>
            <a:lvl8pPr lvl="7" eaLnBrk="1" hangingPunct="1">
              <a:spcBef>
                <a:spcPts val="0"/>
              </a:spcBef>
              <a:spcAft>
                <a:spcPts val="0"/>
              </a:spcAft>
              <a:buSzPts val="2800"/>
              <a:buNone/>
              <a:defRPr>
                <a:solidFill>
                  <a:schemeClr val="tx2"/>
                </a:solidFill>
              </a:defRPr>
            </a:lvl8pPr>
            <a:lvl9pPr lvl="8" eaLnBrk="1" hangingPunct="1">
              <a:spcBef>
                <a:spcPts val="0"/>
              </a:spcBef>
              <a:spcAft>
                <a:spcPts val="0"/>
              </a:spcAft>
              <a:buSzPts val="2800"/>
              <a:buNone/>
              <a:defRPr>
                <a:solidFill>
                  <a:schemeClr val="tx2"/>
                </a:solidFill>
              </a:defRPr>
            </a:lvl9pPr>
          </a:lstStyle>
          <a:p>
            <a:pPr algn="l"/>
            <a:r>
              <a:rPr lang="en-US" sz="2400" dirty="0">
                <a:latin typeface="Times New Roman" panose="02020603050405020304" pitchFamily="18" charset="0"/>
                <a:cs typeface="Times New Roman" panose="02020603050405020304" pitchFamily="18" charset="0"/>
              </a:rPr>
              <a:t>Data Summary </a:t>
            </a:r>
          </a:p>
        </p:txBody>
      </p:sp>
      <p:sp>
        <p:nvSpPr>
          <p:cNvPr id="8" name="Google Shape;65;p15">
            <a:extLst>
              <a:ext uri="{FF2B5EF4-FFF2-40B4-BE49-F238E27FC236}">
                <a16:creationId xmlns:a16="http://schemas.microsoft.com/office/drawing/2014/main" id="{13221301-44ED-457B-A551-F7A663A2BFAB}"/>
              </a:ext>
            </a:extLst>
          </p:cNvPr>
          <p:cNvSpPr txBox="1">
            <a:spLocks/>
          </p:cNvSpPr>
          <p:nvPr/>
        </p:nvSpPr>
        <p:spPr>
          <a:xfrm>
            <a:off x="3166533" y="-127675"/>
            <a:ext cx="3860800" cy="572700"/>
          </a:xfrm>
          <a:prstGeom prst="rect">
            <a:avLst/>
          </a:prstGeom>
          <a:effectLst/>
        </p:spPr>
        <p:txBody>
          <a:bodyPr spcFirstLastPara="1" vert="horz" wrap="square" lIns="91425" tIns="91425" rIns="91425" bIns="91425" rtlCol="0" anchor="t" anchorCtr="0">
            <a:noAutofit/>
          </a:bodyPr>
          <a:lstStyle>
            <a:lvl1pPr lvl="0" algn="ctr" defTabSz="342900" rtl="0" eaLnBrk="1" latinLnBrk="0" hangingPunct="1">
              <a:spcBef>
                <a:spcPts val="0"/>
              </a:spcBef>
              <a:spcAft>
                <a:spcPts val="0"/>
              </a:spcAft>
              <a:buSzPts val="2800"/>
              <a:buNone/>
              <a:defRPr sz="3000" kern="1200" cap="none">
                <a:ln w="3175" cmpd="sng">
                  <a:noFill/>
                </a:ln>
                <a:solidFill>
                  <a:schemeClr val="tx1"/>
                </a:solidFill>
                <a:effectLst/>
                <a:latin typeface="+mj-lt"/>
                <a:ea typeface="+mj-ea"/>
                <a:cs typeface="+mj-cs"/>
              </a:defRPr>
            </a:lvl1pPr>
            <a:lvl2pPr lvl="1" eaLnBrk="1" hangingPunct="1">
              <a:spcBef>
                <a:spcPts val="0"/>
              </a:spcBef>
              <a:spcAft>
                <a:spcPts val="0"/>
              </a:spcAft>
              <a:buSzPts val="2800"/>
              <a:buNone/>
              <a:defRPr>
                <a:solidFill>
                  <a:schemeClr val="tx2"/>
                </a:solidFill>
              </a:defRPr>
            </a:lvl2pPr>
            <a:lvl3pPr lvl="2" eaLnBrk="1" hangingPunct="1">
              <a:spcBef>
                <a:spcPts val="0"/>
              </a:spcBef>
              <a:spcAft>
                <a:spcPts val="0"/>
              </a:spcAft>
              <a:buSzPts val="2800"/>
              <a:buNone/>
              <a:defRPr>
                <a:solidFill>
                  <a:schemeClr val="tx2"/>
                </a:solidFill>
              </a:defRPr>
            </a:lvl3pPr>
            <a:lvl4pPr lvl="3" eaLnBrk="1" hangingPunct="1">
              <a:spcBef>
                <a:spcPts val="0"/>
              </a:spcBef>
              <a:spcAft>
                <a:spcPts val="0"/>
              </a:spcAft>
              <a:buSzPts val="2800"/>
              <a:buNone/>
              <a:defRPr>
                <a:solidFill>
                  <a:schemeClr val="tx2"/>
                </a:solidFill>
              </a:defRPr>
            </a:lvl4pPr>
            <a:lvl5pPr lvl="4" eaLnBrk="1" hangingPunct="1">
              <a:spcBef>
                <a:spcPts val="0"/>
              </a:spcBef>
              <a:spcAft>
                <a:spcPts val="0"/>
              </a:spcAft>
              <a:buSzPts val="2800"/>
              <a:buNone/>
              <a:defRPr>
                <a:solidFill>
                  <a:schemeClr val="tx2"/>
                </a:solidFill>
              </a:defRPr>
            </a:lvl5pPr>
            <a:lvl6pPr lvl="5" eaLnBrk="1" hangingPunct="1">
              <a:spcBef>
                <a:spcPts val="0"/>
              </a:spcBef>
              <a:spcAft>
                <a:spcPts val="0"/>
              </a:spcAft>
              <a:buSzPts val="2800"/>
              <a:buNone/>
              <a:defRPr>
                <a:solidFill>
                  <a:schemeClr val="tx2"/>
                </a:solidFill>
              </a:defRPr>
            </a:lvl6pPr>
            <a:lvl7pPr lvl="6" eaLnBrk="1" hangingPunct="1">
              <a:spcBef>
                <a:spcPts val="0"/>
              </a:spcBef>
              <a:spcAft>
                <a:spcPts val="0"/>
              </a:spcAft>
              <a:buSzPts val="2800"/>
              <a:buNone/>
              <a:defRPr>
                <a:solidFill>
                  <a:schemeClr val="tx2"/>
                </a:solidFill>
              </a:defRPr>
            </a:lvl7pPr>
            <a:lvl8pPr lvl="7" eaLnBrk="1" hangingPunct="1">
              <a:spcBef>
                <a:spcPts val="0"/>
              </a:spcBef>
              <a:spcAft>
                <a:spcPts val="0"/>
              </a:spcAft>
              <a:buSzPts val="2800"/>
              <a:buNone/>
              <a:defRPr>
                <a:solidFill>
                  <a:schemeClr val="tx2"/>
                </a:solidFill>
              </a:defRPr>
            </a:lvl8pPr>
            <a:lvl9pPr lvl="8" eaLnBrk="1" hangingPunct="1">
              <a:spcBef>
                <a:spcPts val="0"/>
              </a:spcBef>
              <a:spcAft>
                <a:spcPts val="0"/>
              </a:spcAft>
              <a:buSzPts val="2800"/>
              <a:buNone/>
              <a:defRPr>
                <a:solidFill>
                  <a:schemeClr val="tx2"/>
                </a:solidFill>
              </a:defRPr>
            </a:lvl9pPr>
          </a:lstStyle>
          <a:p>
            <a:pPr algn="l"/>
            <a:r>
              <a:rPr lang="en-US" sz="3600" dirty="0">
                <a:latin typeface="Times New Roman" panose="02020603050405020304" pitchFamily="18" charset="0"/>
                <a:cs typeface="Times New Roman" panose="02020603050405020304" pitchFamily="18" charset="0"/>
              </a:rPr>
              <a:t>Data Overview</a:t>
            </a:r>
          </a:p>
        </p:txBody>
      </p:sp>
      <p:pic>
        <p:nvPicPr>
          <p:cNvPr id="10" name="Picture 9">
            <a:extLst>
              <a:ext uri="{FF2B5EF4-FFF2-40B4-BE49-F238E27FC236}">
                <a16:creationId xmlns:a16="http://schemas.microsoft.com/office/drawing/2014/main" id="{32450709-D7E1-4720-80EB-5EA3CC2D8536}"/>
              </a:ext>
            </a:extLst>
          </p:cNvPr>
          <p:cNvPicPr>
            <a:picLocks noChangeAspect="1"/>
          </p:cNvPicPr>
          <p:nvPr/>
        </p:nvPicPr>
        <p:blipFill>
          <a:blip r:embed="rId3"/>
          <a:stretch>
            <a:fillRect/>
          </a:stretch>
        </p:blipFill>
        <p:spPr>
          <a:xfrm>
            <a:off x="6763499" y="2745185"/>
            <a:ext cx="2210108" cy="12003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1171851" y="445025"/>
            <a:ext cx="2624667" cy="458508"/>
          </a:xfrm>
          <a:prstGeom prst="rect">
            <a:avLst/>
          </a:prstGeom>
        </p:spPr>
        <p:txBody>
          <a:bodyPr spcFirstLastPara="1" wrap="square" lIns="91425" tIns="91425" rIns="91425" bIns="91425" anchor="t" anchorCtr="0">
            <a:noAutofit/>
          </a:bodyPr>
          <a:lstStyle/>
          <a:p>
            <a:pPr lvl="0" algn="l"/>
            <a:r>
              <a:rPr lang="en-US" sz="2400" dirty="0">
                <a:latin typeface="Times New Roman" panose="02020603050405020304" pitchFamily="18" charset="0"/>
                <a:cs typeface="Times New Roman" panose="02020603050405020304" pitchFamily="18" charset="0"/>
              </a:rPr>
              <a:t>Key Variables</a:t>
            </a:r>
            <a:endParaRPr sz="2400" dirty="0">
              <a:latin typeface="Times New Roman" panose="02020603050405020304" pitchFamily="18" charset="0"/>
              <a:cs typeface="Times New Roman" panose="02020603050405020304" pitchFamily="18" charset="0"/>
            </a:endParaRPr>
          </a:p>
        </p:txBody>
      </p:sp>
      <p:sp>
        <p:nvSpPr>
          <p:cNvPr id="66" name="Google Shape;66;p15"/>
          <p:cNvSpPr txBox="1">
            <a:spLocks noGrp="1"/>
          </p:cNvSpPr>
          <p:nvPr>
            <p:ph type="body" idx="1"/>
          </p:nvPr>
        </p:nvSpPr>
        <p:spPr>
          <a:xfrm>
            <a:off x="1171851" y="863300"/>
            <a:ext cx="7748567" cy="3471633"/>
          </a:xfrm>
          <a:prstGeom prst="rect">
            <a:avLst/>
          </a:prstGeom>
        </p:spPr>
        <p:txBody>
          <a:bodyPr spcFirstLastPara="1" wrap="square" lIns="91425" tIns="91425" rIns="91425" bIns="91425" anchor="t" anchorCtr="0">
            <a:normAutofit/>
          </a:bodyPr>
          <a:lstStyle/>
          <a:p>
            <a:r>
              <a:rPr lang="en-US" dirty="0">
                <a:latin typeface="Times New Roman" panose="02020603050405020304" pitchFamily="18" charset="0"/>
                <a:cs typeface="Times New Roman" panose="02020603050405020304" pitchFamily="18" charset="0"/>
              </a:rPr>
              <a:t>Gender </a:t>
            </a:r>
          </a:p>
          <a:p>
            <a:r>
              <a:rPr lang="en-US" dirty="0">
                <a:latin typeface="Times New Roman" panose="02020603050405020304" pitchFamily="18" charset="0"/>
                <a:cs typeface="Times New Roman" panose="02020603050405020304" pitchFamily="18" charset="0"/>
              </a:rPr>
              <a:t>Senior Citizen </a:t>
            </a:r>
          </a:p>
          <a:p>
            <a:r>
              <a:rPr lang="en-US" dirty="0">
                <a:latin typeface="Times New Roman" panose="02020603050405020304" pitchFamily="18" charset="0"/>
                <a:cs typeface="Times New Roman" panose="02020603050405020304" pitchFamily="18" charset="0"/>
              </a:rPr>
              <a:t>Partner </a:t>
            </a:r>
          </a:p>
          <a:p>
            <a:r>
              <a:rPr lang="en-US" dirty="0">
                <a:latin typeface="Times New Roman" panose="02020603050405020304" pitchFamily="18" charset="0"/>
                <a:cs typeface="Times New Roman" panose="02020603050405020304" pitchFamily="18" charset="0"/>
              </a:rPr>
              <a:t>Dependents </a:t>
            </a:r>
          </a:p>
          <a:p>
            <a:r>
              <a:rPr lang="en-US" dirty="0">
                <a:latin typeface="Times New Roman" panose="02020603050405020304" pitchFamily="18" charset="0"/>
                <a:cs typeface="Times New Roman" panose="02020603050405020304" pitchFamily="18" charset="0"/>
              </a:rPr>
              <a:t>Contract Type </a:t>
            </a:r>
          </a:p>
          <a:p>
            <a:r>
              <a:rPr lang="en-US" dirty="0">
                <a:latin typeface="Times New Roman" panose="02020603050405020304" pitchFamily="18" charset="0"/>
                <a:cs typeface="Times New Roman" panose="02020603050405020304" pitchFamily="18" charset="0"/>
              </a:rPr>
              <a:t>Internet Service </a:t>
            </a:r>
          </a:p>
          <a:p>
            <a:r>
              <a:rPr lang="en-US" dirty="0">
                <a:latin typeface="Times New Roman" panose="02020603050405020304" pitchFamily="18" charset="0"/>
                <a:cs typeface="Times New Roman" panose="02020603050405020304" pitchFamily="18" charset="0"/>
              </a:rPr>
              <a:t>Payment Method </a:t>
            </a:r>
          </a:p>
          <a:p>
            <a:r>
              <a:rPr lang="en-US" dirty="0">
                <a:latin typeface="Times New Roman" panose="02020603050405020304" pitchFamily="18" charset="0"/>
                <a:cs typeface="Times New Roman" panose="02020603050405020304" pitchFamily="18" charset="0"/>
              </a:rPr>
              <a:t>Monthly Charges </a:t>
            </a:r>
          </a:p>
          <a:p>
            <a:r>
              <a:rPr lang="en-US" dirty="0">
                <a:latin typeface="Times New Roman" panose="02020603050405020304" pitchFamily="18" charset="0"/>
                <a:cs typeface="Times New Roman" panose="02020603050405020304" pitchFamily="18" charset="0"/>
              </a:rPr>
              <a:t>Total Charges </a:t>
            </a:r>
          </a:p>
          <a:p>
            <a:r>
              <a:rPr lang="en-US" dirty="0">
                <a:latin typeface="Times New Roman" panose="02020603050405020304" pitchFamily="18" charset="0"/>
                <a:cs typeface="Times New Roman" panose="02020603050405020304" pitchFamily="18" charset="0"/>
              </a:rPr>
              <a:t>Customer Tenure </a:t>
            </a:r>
          </a:p>
          <a:p>
            <a:r>
              <a:rPr lang="en-US" dirty="0">
                <a:latin typeface="Times New Roman" panose="02020603050405020304" pitchFamily="18" charset="0"/>
                <a:cs typeface="Times New Roman" panose="02020603050405020304" pitchFamily="18" charset="0"/>
              </a:rPr>
              <a:t>Tech Support </a:t>
            </a:r>
          </a:p>
          <a:p>
            <a:r>
              <a:rPr lang="en-US" dirty="0">
                <a:latin typeface="Times New Roman" panose="02020603050405020304" pitchFamily="18" charset="0"/>
                <a:cs typeface="Times New Roman" panose="02020603050405020304" pitchFamily="18" charset="0"/>
              </a:rPr>
              <a:t>Churn Status </a:t>
            </a:r>
          </a:p>
          <a:p>
            <a:pPr marL="114300" indent="0">
              <a:buNone/>
            </a:pPr>
            <a:r>
              <a:rPr lang="en-US" dirty="0">
                <a:latin typeface="Times New Roman" panose="02020603050405020304" pitchFamily="18" charset="0"/>
                <a:cs typeface="Times New Roman" panose="02020603050405020304" pitchFamily="18" charset="0"/>
              </a:rPr>
              <a:t>These variables were used to examine customer behavior and identify the main drivers of churn.</a:t>
            </a:r>
          </a:p>
          <a:p>
            <a:pPr marL="0" lvl="0" indent="0">
              <a:spcBef>
                <a:spcPts val="1200"/>
              </a:spcBef>
              <a:buClr>
                <a:schemeClr val="dk1"/>
              </a:buClr>
              <a:buSzPts val="1100"/>
              <a:buNone/>
            </a:pPr>
            <a:endParaRPr dirty="0"/>
          </a:p>
        </p:txBody>
      </p:sp>
      <p:sp>
        <p:nvSpPr>
          <p:cNvPr id="8" name="Google Shape;65;p15">
            <a:extLst>
              <a:ext uri="{FF2B5EF4-FFF2-40B4-BE49-F238E27FC236}">
                <a16:creationId xmlns:a16="http://schemas.microsoft.com/office/drawing/2014/main" id="{13221301-44ED-457B-A551-F7A663A2BFAB}"/>
              </a:ext>
            </a:extLst>
          </p:cNvPr>
          <p:cNvSpPr txBox="1">
            <a:spLocks/>
          </p:cNvSpPr>
          <p:nvPr/>
        </p:nvSpPr>
        <p:spPr>
          <a:xfrm>
            <a:off x="3166533" y="-127675"/>
            <a:ext cx="3860800" cy="572700"/>
          </a:xfrm>
          <a:prstGeom prst="rect">
            <a:avLst/>
          </a:prstGeom>
          <a:effectLst/>
        </p:spPr>
        <p:txBody>
          <a:bodyPr spcFirstLastPara="1" vert="horz" wrap="square" lIns="91425" tIns="91425" rIns="91425" bIns="91425" rtlCol="0" anchor="t" anchorCtr="0">
            <a:noAutofit/>
          </a:bodyPr>
          <a:lstStyle>
            <a:lvl1pPr lvl="0" algn="ctr" defTabSz="342900" rtl="0" eaLnBrk="1" latinLnBrk="0" hangingPunct="1">
              <a:spcBef>
                <a:spcPts val="0"/>
              </a:spcBef>
              <a:spcAft>
                <a:spcPts val="0"/>
              </a:spcAft>
              <a:buSzPts val="2800"/>
              <a:buNone/>
              <a:defRPr sz="3000" kern="1200" cap="none">
                <a:ln w="3175" cmpd="sng">
                  <a:noFill/>
                </a:ln>
                <a:solidFill>
                  <a:schemeClr val="tx1"/>
                </a:solidFill>
                <a:effectLst/>
                <a:latin typeface="+mj-lt"/>
                <a:ea typeface="+mj-ea"/>
                <a:cs typeface="+mj-cs"/>
              </a:defRPr>
            </a:lvl1pPr>
            <a:lvl2pPr lvl="1" eaLnBrk="1" hangingPunct="1">
              <a:spcBef>
                <a:spcPts val="0"/>
              </a:spcBef>
              <a:spcAft>
                <a:spcPts val="0"/>
              </a:spcAft>
              <a:buSzPts val="2800"/>
              <a:buNone/>
              <a:defRPr>
                <a:solidFill>
                  <a:schemeClr val="tx2"/>
                </a:solidFill>
              </a:defRPr>
            </a:lvl2pPr>
            <a:lvl3pPr lvl="2" eaLnBrk="1" hangingPunct="1">
              <a:spcBef>
                <a:spcPts val="0"/>
              </a:spcBef>
              <a:spcAft>
                <a:spcPts val="0"/>
              </a:spcAft>
              <a:buSzPts val="2800"/>
              <a:buNone/>
              <a:defRPr>
                <a:solidFill>
                  <a:schemeClr val="tx2"/>
                </a:solidFill>
              </a:defRPr>
            </a:lvl3pPr>
            <a:lvl4pPr lvl="3" eaLnBrk="1" hangingPunct="1">
              <a:spcBef>
                <a:spcPts val="0"/>
              </a:spcBef>
              <a:spcAft>
                <a:spcPts val="0"/>
              </a:spcAft>
              <a:buSzPts val="2800"/>
              <a:buNone/>
              <a:defRPr>
                <a:solidFill>
                  <a:schemeClr val="tx2"/>
                </a:solidFill>
              </a:defRPr>
            </a:lvl4pPr>
            <a:lvl5pPr lvl="4" eaLnBrk="1" hangingPunct="1">
              <a:spcBef>
                <a:spcPts val="0"/>
              </a:spcBef>
              <a:spcAft>
                <a:spcPts val="0"/>
              </a:spcAft>
              <a:buSzPts val="2800"/>
              <a:buNone/>
              <a:defRPr>
                <a:solidFill>
                  <a:schemeClr val="tx2"/>
                </a:solidFill>
              </a:defRPr>
            </a:lvl5pPr>
            <a:lvl6pPr lvl="5" eaLnBrk="1" hangingPunct="1">
              <a:spcBef>
                <a:spcPts val="0"/>
              </a:spcBef>
              <a:spcAft>
                <a:spcPts val="0"/>
              </a:spcAft>
              <a:buSzPts val="2800"/>
              <a:buNone/>
              <a:defRPr>
                <a:solidFill>
                  <a:schemeClr val="tx2"/>
                </a:solidFill>
              </a:defRPr>
            </a:lvl6pPr>
            <a:lvl7pPr lvl="6" eaLnBrk="1" hangingPunct="1">
              <a:spcBef>
                <a:spcPts val="0"/>
              </a:spcBef>
              <a:spcAft>
                <a:spcPts val="0"/>
              </a:spcAft>
              <a:buSzPts val="2800"/>
              <a:buNone/>
              <a:defRPr>
                <a:solidFill>
                  <a:schemeClr val="tx2"/>
                </a:solidFill>
              </a:defRPr>
            </a:lvl7pPr>
            <a:lvl8pPr lvl="7" eaLnBrk="1" hangingPunct="1">
              <a:spcBef>
                <a:spcPts val="0"/>
              </a:spcBef>
              <a:spcAft>
                <a:spcPts val="0"/>
              </a:spcAft>
              <a:buSzPts val="2800"/>
              <a:buNone/>
              <a:defRPr>
                <a:solidFill>
                  <a:schemeClr val="tx2"/>
                </a:solidFill>
              </a:defRPr>
            </a:lvl8pPr>
            <a:lvl9pPr lvl="8" eaLnBrk="1" hangingPunct="1">
              <a:spcBef>
                <a:spcPts val="0"/>
              </a:spcBef>
              <a:spcAft>
                <a:spcPts val="0"/>
              </a:spcAft>
              <a:buSzPts val="2800"/>
              <a:buNone/>
              <a:defRPr>
                <a:solidFill>
                  <a:schemeClr val="tx2"/>
                </a:solidFill>
              </a:defRPr>
            </a:lvl9pPr>
          </a:lstStyle>
          <a:p>
            <a:pPr algn="l"/>
            <a:r>
              <a:rPr lang="en-US" sz="3600" dirty="0">
                <a:latin typeface="Times New Roman" panose="02020603050405020304" pitchFamily="18" charset="0"/>
                <a:cs typeface="Times New Roman" panose="02020603050405020304" pitchFamily="18" charset="0"/>
              </a:rPr>
              <a:t>Data Overview</a:t>
            </a:r>
          </a:p>
        </p:txBody>
      </p:sp>
    </p:spTree>
    <p:extLst>
      <p:ext uri="{BB962C8B-B14F-4D97-AF65-F5344CB8AC3E}">
        <p14:creationId xmlns:p14="http://schemas.microsoft.com/office/powerpoint/2010/main" val="2952630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1141433" y="344984"/>
            <a:ext cx="2685500" cy="572700"/>
          </a:xfrm>
          <a:prstGeom prst="rect">
            <a:avLst/>
          </a:prstGeom>
        </p:spPr>
        <p:txBody>
          <a:bodyPr spcFirstLastPara="1" wrap="square" lIns="91425" tIns="91425" rIns="91425" bIns="91425" anchor="t" anchorCtr="0">
            <a:normAutofit fontScale="90000"/>
          </a:bodyPr>
          <a:lstStyle/>
          <a:p>
            <a:pPr lvl="0" algn="l"/>
            <a:r>
              <a:rPr lang="en-US" dirty="0">
                <a:latin typeface="Times New Roman" panose="02020603050405020304" pitchFamily="18" charset="0"/>
                <a:cs typeface="Times New Roman" panose="02020603050405020304" pitchFamily="18" charset="0"/>
              </a:rPr>
              <a:t>Data Preparation</a:t>
            </a:r>
            <a:endParaRPr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F49F5D2B-59E6-4177-B093-CD509C2A0AC4}"/>
              </a:ext>
            </a:extLst>
          </p:cNvPr>
          <p:cNvSpPr>
            <a:spLocks noGrp="1" noChangeArrowheads="1"/>
          </p:cNvSpPr>
          <p:nvPr>
            <p:ph type="body" idx="1"/>
          </p:nvPr>
        </p:nvSpPr>
        <p:spPr bwMode="auto">
          <a:xfrm>
            <a:off x="1659466" y="917684"/>
            <a:ext cx="551728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Imported the customer dataset into Power BI. </a:t>
            </a:r>
          </a:p>
          <a:p>
            <a:pPr marL="285750" indent="-285750"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Checked for missing or inconsistent values. </a:t>
            </a:r>
          </a:p>
          <a:p>
            <a:pPr marL="285750" indent="-285750"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Verified data quality and data types. </a:t>
            </a:r>
          </a:p>
          <a:p>
            <a:pPr marL="285750" indent="-285750"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and transformed the data using Power Query. </a:t>
            </a:r>
          </a:p>
        </p:txBody>
      </p:sp>
      <p:sp>
        <p:nvSpPr>
          <p:cNvPr id="4" name="Google Shape;71;p16">
            <a:extLst>
              <a:ext uri="{FF2B5EF4-FFF2-40B4-BE49-F238E27FC236}">
                <a16:creationId xmlns:a16="http://schemas.microsoft.com/office/drawing/2014/main" id="{D0187202-77C6-4B0C-82C3-5D57DE665602}"/>
              </a:ext>
            </a:extLst>
          </p:cNvPr>
          <p:cNvSpPr txBox="1">
            <a:spLocks/>
          </p:cNvSpPr>
          <p:nvPr/>
        </p:nvSpPr>
        <p:spPr>
          <a:xfrm>
            <a:off x="3251200" y="-3033"/>
            <a:ext cx="3318934" cy="572700"/>
          </a:xfrm>
          <a:prstGeom prst="rect">
            <a:avLst/>
          </a:prstGeom>
          <a:effectLst/>
        </p:spPr>
        <p:txBody>
          <a:bodyPr spcFirstLastPara="1" vert="horz" wrap="square" lIns="91425" tIns="91425" rIns="91425" bIns="91425" rtlCol="0" anchor="t" anchorCtr="0">
            <a:normAutofit fontScale="90000" lnSpcReduction="10000"/>
          </a:bodyPr>
          <a:lstStyle>
            <a:lvl1pPr lvl="0" algn="ctr" defTabSz="342900" rtl="0" eaLnBrk="1" latinLnBrk="0" hangingPunct="1">
              <a:spcBef>
                <a:spcPts val="0"/>
              </a:spcBef>
              <a:spcAft>
                <a:spcPts val="0"/>
              </a:spcAft>
              <a:buSzPts val="2800"/>
              <a:buNone/>
              <a:defRPr sz="3000" kern="1200" cap="none">
                <a:ln w="3175" cmpd="sng">
                  <a:noFill/>
                </a:ln>
                <a:solidFill>
                  <a:schemeClr val="tx1"/>
                </a:solidFill>
                <a:effectLst/>
                <a:latin typeface="+mj-lt"/>
                <a:ea typeface="+mj-ea"/>
                <a:cs typeface="+mj-cs"/>
              </a:defRPr>
            </a:lvl1pPr>
            <a:lvl2pPr lvl="1" eaLnBrk="1" hangingPunct="1">
              <a:spcBef>
                <a:spcPts val="0"/>
              </a:spcBef>
              <a:spcAft>
                <a:spcPts val="0"/>
              </a:spcAft>
              <a:buSzPts val="2800"/>
              <a:buNone/>
              <a:defRPr>
                <a:solidFill>
                  <a:schemeClr val="tx2"/>
                </a:solidFill>
              </a:defRPr>
            </a:lvl2pPr>
            <a:lvl3pPr lvl="2" eaLnBrk="1" hangingPunct="1">
              <a:spcBef>
                <a:spcPts val="0"/>
              </a:spcBef>
              <a:spcAft>
                <a:spcPts val="0"/>
              </a:spcAft>
              <a:buSzPts val="2800"/>
              <a:buNone/>
              <a:defRPr>
                <a:solidFill>
                  <a:schemeClr val="tx2"/>
                </a:solidFill>
              </a:defRPr>
            </a:lvl3pPr>
            <a:lvl4pPr lvl="3" eaLnBrk="1" hangingPunct="1">
              <a:spcBef>
                <a:spcPts val="0"/>
              </a:spcBef>
              <a:spcAft>
                <a:spcPts val="0"/>
              </a:spcAft>
              <a:buSzPts val="2800"/>
              <a:buNone/>
              <a:defRPr>
                <a:solidFill>
                  <a:schemeClr val="tx2"/>
                </a:solidFill>
              </a:defRPr>
            </a:lvl4pPr>
            <a:lvl5pPr lvl="4" eaLnBrk="1" hangingPunct="1">
              <a:spcBef>
                <a:spcPts val="0"/>
              </a:spcBef>
              <a:spcAft>
                <a:spcPts val="0"/>
              </a:spcAft>
              <a:buSzPts val="2800"/>
              <a:buNone/>
              <a:defRPr>
                <a:solidFill>
                  <a:schemeClr val="tx2"/>
                </a:solidFill>
              </a:defRPr>
            </a:lvl5pPr>
            <a:lvl6pPr lvl="5" eaLnBrk="1" hangingPunct="1">
              <a:spcBef>
                <a:spcPts val="0"/>
              </a:spcBef>
              <a:spcAft>
                <a:spcPts val="0"/>
              </a:spcAft>
              <a:buSzPts val="2800"/>
              <a:buNone/>
              <a:defRPr>
                <a:solidFill>
                  <a:schemeClr val="tx2"/>
                </a:solidFill>
              </a:defRPr>
            </a:lvl6pPr>
            <a:lvl7pPr lvl="6" eaLnBrk="1" hangingPunct="1">
              <a:spcBef>
                <a:spcPts val="0"/>
              </a:spcBef>
              <a:spcAft>
                <a:spcPts val="0"/>
              </a:spcAft>
              <a:buSzPts val="2800"/>
              <a:buNone/>
              <a:defRPr>
                <a:solidFill>
                  <a:schemeClr val="tx2"/>
                </a:solidFill>
              </a:defRPr>
            </a:lvl7pPr>
            <a:lvl8pPr lvl="7" eaLnBrk="1" hangingPunct="1">
              <a:spcBef>
                <a:spcPts val="0"/>
              </a:spcBef>
              <a:spcAft>
                <a:spcPts val="0"/>
              </a:spcAft>
              <a:buSzPts val="2800"/>
              <a:buNone/>
              <a:defRPr>
                <a:solidFill>
                  <a:schemeClr val="tx2"/>
                </a:solidFill>
              </a:defRPr>
            </a:lvl8pPr>
            <a:lvl9pPr lvl="8" eaLnBrk="1" hangingPunct="1">
              <a:spcBef>
                <a:spcPts val="0"/>
              </a:spcBef>
              <a:spcAft>
                <a:spcPts val="0"/>
              </a:spcAft>
              <a:buSzPts val="2800"/>
              <a:buNone/>
              <a:defRPr>
                <a:solidFill>
                  <a:schemeClr val="tx2"/>
                </a:solidFill>
              </a:defRPr>
            </a:lvl9pPr>
          </a:lstStyle>
          <a:p>
            <a:pPr algn="l"/>
            <a:r>
              <a:rPr lang="en-US" dirty="0">
                <a:latin typeface="Times New Roman" panose="02020603050405020304" pitchFamily="18" charset="0"/>
                <a:cs typeface="Times New Roman" panose="02020603050405020304" pitchFamily="18" charset="0"/>
              </a:rPr>
              <a:t>Data Analysis Process</a:t>
            </a:r>
          </a:p>
        </p:txBody>
      </p:sp>
      <p:sp>
        <p:nvSpPr>
          <p:cNvPr id="6" name="Google Shape;71;p16">
            <a:extLst>
              <a:ext uri="{FF2B5EF4-FFF2-40B4-BE49-F238E27FC236}">
                <a16:creationId xmlns:a16="http://schemas.microsoft.com/office/drawing/2014/main" id="{BF055E7A-19C9-4CEE-9569-D6490A657427}"/>
              </a:ext>
            </a:extLst>
          </p:cNvPr>
          <p:cNvSpPr txBox="1">
            <a:spLocks/>
          </p:cNvSpPr>
          <p:nvPr/>
        </p:nvSpPr>
        <p:spPr>
          <a:xfrm>
            <a:off x="1141433" y="2118013"/>
            <a:ext cx="2685500" cy="572700"/>
          </a:xfrm>
          <a:prstGeom prst="rect">
            <a:avLst/>
          </a:prstGeom>
          <a:effectLst/>
        </p:spPr>
        <p:txBody>
          <a:bodyPr spcFirstLastPara="1" vert="horz" wrap="square" lIns="91425" tIns="91425" rIns="91425" bIns="91425" rtlCol="0" anchor="t" anchorCtr="0">
            <a:normAutofit fontScale="90000" lnSpcReduction="10000"/>
          </a:bodyPr>
          <a:lstStyle>
            <a:lvl1pPr lvl="0" algn="ctr" defTabSz="342900" rtl="0" eaLnBrk="1" latinLnBrk="0" hangingPunct="1">
              <a:spcBef>
                <a:spcPts val="0"/>
              </a:spcBef>
              <a:spcAft>
                <a:spcPts val="0"/>
              </a:spcAft>
              <a:buSzPts val="2800"/>
              <a:buNone/>
              <a:defRPr sz="3000" kern="1200" cap="none">
                <a:ln w="3175" cmpd="sng">
                  <a:noFill/>
                </a:ln>
                <a:solidFill>
                  <a:schemeClr val="tx1"/>
                </a:solidFill>
                <a:effectLst/>
                <a:latin typeface="+mj-lt"/>
                <a:ea typeface="+mj-ea"/>
                <a:cs typeface="+mj-cs"/>
              </a:defRPr>
            </a:lvl1pPr>
            <a:lvl2pPr lvl="1" eaLnBrk="1" hangingPunct="1">
              <a:spcBef>
                <a:spcPts val="0"/>
              </a:spcBef>
              <a:spcAft>
                <a:spcPts val="0"/>
              </a:spcAft>
              <a:buSzPts val="2800"/>
              <a:buNone/>
              <a:defRPr>
                <a:solidFill>
                  <a:schemeClr val="tx2"/>
                </a:solidFill>
              </a:defRPr>
            </a:lvl2pPr>
            <a:lvl3pPr lvl="2" eaLnBrk="1" hangingPunct="1">
              <a:spcBef>
                <a:spcPts val="0"/>
              </a:spcBef>
              <a:spcAft>
                <a:spcPts val="0"/>
              </a:spcAft>
              <a:buSzPts val="2800"/>
              <a:buNone/>
              <a:defRPr>
                <a:solidFill>
                  <a:schemeClr val="tx2"/>
                </a:solidFill>
              </a:defRPr>
            </a:lvl3pPr>
            <a:lvl4pPr lvl="3" eaLnBrk="1" hangingPunct="1">
              <a:spcBef>
                <a:spcPts val="0"/>
              </a:spcBef>
              <a:spcAft>
                <a:spcPts val="0"/>
              </a:spcAft>
              <a:buSzPts val="2800"/>
              <a:buNone/>
              <a:defRPr>
                <a:solidFill>
                  <a:schemeClr val="tx2"/>
                </a:solidFill>
              </a:defRPr>
            </a:lvl4pPr>
            <a:lvl5pPr lvl="4" eaLnBrk="1" hangingPunct="1">
              <a:spcBef>
                <a:spcPts val="0"/>
              </a:spcBef>
              <a:spcAft>
                <a:spcPts val="0"/>
              </a:spcAft>
              <a:buSzPts val="2800"/>
              <a:buNone/>
              <a:defRPr>
                <a:solidFill>
                  <a:schemeClr val="tx2"/>
                </a:solidFill>
              </a:defRPr>
            </a:lvl5pPr>
            <a:lvl6pPr lvl="5" eaLnBrk="1" hangingPunct="1">
              <a:spcBef>
                <a:spcPts val="0"/>
              </a:spcBef>
              <a:spcAft>
                <a:spcPts val="0"/>
              </a:spcAft>
              <a:buSzPts val="2800"/>
              <a:buNone/>
              <a:defRPr>
                <a:solidFill>
                  <a:schemeClr val="tx2"/>
                </a:solidFill>
              </a:defRPr>
            </a:lvl6pPr>
            <a:lvl7pPr lvl="6" eaLnBrk="1" hangingPunct="1">
              <a:spcBef>
                <a:spcPts val="0"/>
              </a:spcBef>
              <a:spcAft>
                <a:spcPts val="0"/>
              </a:spcAft>
              <a:buSzPts val="2800"/>
              <a:buNone/>
              <a:defRPr>
                <a:solidFill>
                  <a:schemeClr val="tx2"/>
                </a:solidFill>
              </a:defRPr>
            </a:lvl7pPr>
            <a:lvl8pPr lvl="7" eaLnBrk="1" hangingPunct="1">
              <a:spcBef>
                <a:spcPts val="0"/>
              </a:spcBef>
              <a:spcAft>
                <a:spcPts val="0"/>
              </a:spcAft>
              <a:buSzPts val="2800"/>
              <a:buNone/>
              <a:defRPr>
                <a:solidFill>
                  <a:schemeClr val="tx2"/>
                </a:solidFill>
              </a:defRPr>
            </a:lvl8pPr>
            <a:lvl9pPr lvl="8" eaLnBrk="1" hangingPunct="1">
              <a:spcBef>
                <a:spcPts val="0"/>
              </a:spcBef>
              <a:spcAft>
                <a:spcPts val="0"/>
              </a:spcAft>
              <a:buSzPts val="2800"/>
              <a:buNone/>
              <a:defRPr>
                <a:solidFill>
                  <a:schemeClr val="tx2"/>
                </a:solidFill>
              </a:defRPr>
            </a:lvl9pPr>
          </a:lstStyle>
          <a:p>
            <a:pPr algn="l"/>
            <a:r>
              <a:rPr lang="en-US" dirty="0">
                <a:latin typeface="Times New Roman" panose="02020603050405020304" pitchFamily="18" charset="0"/>
                <a:cs typeface="Times New Roman" panose="02020603050405020304" pitchFamily="18" charset="0"/>
              </a:rPr>
              <a:t>Dax Measures</a:t>
            </a:r>
          </a:p>
        </p:txBody>
      </p:sp>
      <p:sp>
        <p:nvSpPr>
          <p:cNvPr id="11" name="Text Placeholder 1">
            <a:extLst>
              <a:ext uri="{FF2B5EF4-FFF2-40B4-BE49-F238E27FC236}">
                <a16:creationId xmlns:a16="http://schemas.microsoft.com/office/drawing/2014/main" id="{53619C4D-0CA0-4BDC-93C9-89A306BAAA7C}"/>
              </a:ext>
            </a:extLst>
          </p:cNvPr>
          <p:cNvSpPr txBox="1">
            <a:spLocks noChangeArrowheads="1"/>
          </p:cNvSpPr>
          <p:nvPr/>
        </p:nvSpPr>
        <p:spPr bwMode="auto">
          <a:xfrm>
            <a:off x="1659466" y="2598380"/>
            <a:ext cx="623664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lvl1pPr marL="457200" lvl="0" indent="-342900" algn="l" defTabSz="342900" rtl="0" eaLnBrk="1" latinLnBrk="0" hangingPunct="1">
              <a:spcBef>
                <a:spcPts val="0"/>
              </a:spcBef>
              <a:spcAft>
                <a:spcPts val="0"/>
              </a:spcAft>
              <a:buClr>
                <a:schemeClr val="accent1">
                  <a:lumMod val="75000"/>
                </a:schemeClr>
              </a:buClr>
              <a:buSzPts val="1800"/>
              <a:buFont typeface="Arial"/>
              <a:buChar char="●"/>
              <a:defRPr sz="1800" kern="1200" cap="none">
                <a:solidFill>
                  <a:schemeClr val="tx1"/>
                </a:solidFill>
                <a:effectLst/>
                <a:latin typeface="+mn-lt"/>
                <a:ea typeface="+mn-ea"/>
                <a:cs typeface="+mn-cs"/>
              </a:defRPr>
            </a:lvl1pPr>
            <a:lvl2pPr marL="914400" lvl="1" indent="-317500" algn="l" defTabSz="342900" rtl="0" eaLnBrk="1" latinLnBrk="0" hangingPunct="1">
              <a:spcBef>
                <a:spcPts val="0"/>
              </a:spcBef>
              <a:spcAft>
                <a:spcPts val="0"/>
              </a:spcAft>
              <a:buClr>
                <a:schemeClr val="accent1">
                  <a:lumMod val="75000"/>
                </a:schemeClr>
              </a:buClr>
              <a:buSzPts val="1400"/>
              <a:buFont typeface="Arial"/>
              <a:buChar char="○"/>
              <a:defRPr sz="1500" kern="1200" cap="none">
                <a:solidFill>
                  <a:schemeClr val="tx1"/>
                </a:solidFill>
                <a:effectLst/>
                <a:latin typeface="+mn-lt"/>
                <a:ea typeface="+mn-ea"/>
                <a:cs typeface="+mn-cs"/>
              </a:defRPr>
            </a:lvl2pPr>
            <a:lvl3pPr marL="1371600" lvl="2" indent="-317500" algn="l" defTabSz="342900" rtl="0" eaLnBrk="1" latinLnBrk="0" hangingPunct="1">
              <a:spcBef>
                <a:spcPts val="0"/>
              </a:spcBef>
              <a:spcAft>
                <a:spcPts val="0"/>
              </a:spcAft>
              <a:buClr>
                <a:schemeClr val="accent1">
                  <a:lumMod val="75000"/>
                </a:schemeClr>
              </a:buClr>
              <a:buSzPts val="1400"/>
              <a:buFont typeface="Arial"/>
              <a:buChar char="■"/>
              <a:defRPr sz="1350" kern="1200" cap="none">
                <a:solidFill>
                  <a:schemeClr val="tx1"/>
                </a:solidFill>
                <a:effectLst/>
                <a:latin typeface="+mn-lt"/>
                <a:ea typeface="+mn-ea"/>
                <a:cs typeface="+mn-cs"/>
              </a:defRPr>
            </a:lvl3pPr>
            <a:lvl4pPr marL="1828800" lvl="3" indent="-317500" algn="l" defTabSz="342900" rtl="0" eaLnBrk="1" latinLnBrk="0" hangingPunct="1">
              <a:spcBef>
                <a:spcPts val="0"/>
              </a:spcBef>
              <a:spcAft>
                <a:spcPts val="0"/>
              </a:spcAft>
              <a:buClr>
                <a:schemeClr val="accent1">
                  <a:lumMod val="75000"/>
                </a:schemeClr>
              </a:buClr>
              <a:buSzPts val="1400"/>
              <a:buFont typeface="Arial"/>
              <a:buChar char="●"/>
              <a:defRPr sz="1200" kern="1200" cap="none">
                <a:solidFill>
                  <a:schemeClr val="tx1"/>
                </a:solidFill>
                <a:effectLst/>
                <a:latin typeface="+mn-lt"/>
                <a:ea typeface="+mn-ea"/>
                <a:cs typeface="+mn-cs"/>
              </a:defRPr>
            </a:lvl4pPr>
            <a:lvl5pPr marL="2286000" lvl="4" indent="-317500" algn="l" defTabSz="342900" rtl="0" eaLnBrk="1" latinLnBrk="0" hangingPunct="1">
              <a:spcBef>
                <a:spcPts val="0"/>
              </a:spcBef>
              <a:spcAft>
                <a:spcPts val="0"/>
              </a:spcAft>
              <a:buClr>
                <a:schemeClr val="accent1">
                  <a:lumMod val="75000"/>
                </a:schemeClr>
              </a:buClr>
              <a:buSzPts val="1400"/>
              <a:buFont typeface="Arial"/>
              <a:buChar char="○"/>
              <a:defRPr sz="1050" kern="1200" cap="none">
                <a:solidFill>
                  <a:schemeClr val="tx1"/>
                </a:solidFill>
                <a:effectLst/>
                <a:latin typeface="+mn-lt"/>
                <a:ea typeface="+mn-ea"/>
                <a:cs typeface="+mn-cs"/>
              </a:defRPr>
            </a:lvl5pPr>
            <a:lvl6pPr marL="2743200" lvl="5" indent="-317500" algn="l" defTabSz="342900" rtl="0" eaLnBrk="1" latinLnBrk="0" hangingPunct="1">
              <a:spcBef>
                <a:spcPts val="0"/>
              </a:spcBef>
              <a:spcAft>
                <a:spcPts val="0"/>
              </a:spcAft>
              <a:buClr>
                <a:schemeClr val="accent1">
                  <a:lumMod val="75000"/>
                </a:schemeClr>
              </a:buClr>
              <a:buSzPts val="1400"/>
              <a:buFont typeface="Arial"/>
              <a:buChar char="■"/>
              <a:defRPr sz="1050" kern="1200" cap="none">
                <a:solidFill>
                  <a:schemeClr val="tx1"/>
                </a:solidFill>
                <a:effectLst/>
                <a:latin typeface="+mn-lt"/>
                <a:ea typeface="+mn-ea"/>
                <a:cs typeface="+mn-cs"/>
              </a:defRPr>
            </a:lvl6pPr>
            <a:lvl7pPr marL="3200400" lvl="6" indent="-317500" algn="l" defTabSz="342900" rtl="0" eaLnBrk="1" latinLnBrk="0" hangingPunct="1">
              <a:spcBef>
                <a:spcPts val="0"/>
              </a:spcBef>
              <a:spcAft>
                <a:spcPts val="0"/>
              </a:spcAft>
              <a:buClr>
                <a:schemeClr val="accent1">
                  <a:lumMod val="75000"/>
                </a:schemeClr>
              </a:buClr>
              <a:buSzPts val="1400"/>
              <a:buFont typeface="Arial"/>
              <a:buChar char="●"/>
              <a:defRPr sz="1050" kern="1200" cap="none">
                <a:solidFill>
                  <a:schemeClr val="tx1"/>
                </a:solidFill>
                <a:effectLst/>
                <a:latin typeface="+mn-lt"/>
                <a:ea typeface="+mn-ea"/>
                <a:cs typeface="+mn-cs"/>
              </a:defRPr>
            </a:lvl7pPr>
            <a:lvl8pPr marL="3657600" lvl="7" indent="-317500" algn="l" defTabSz="342900" rtl="0" eaLnBrk="1" latinLnBrk="0" hangingPunct="1">
              <a:spcBef>
                <a:spcPts val="0"/>
              </a:spcBef>
              <a:spcAft>
                <a:spcPts val="0"/>
              </a:spcAft>
              <a:buClr>
                <a:schemeClr val="accent1">
                  <a:lumMod val="75000"/>
                </a:schemeClr>
              </a:buClr>
              <a:buSzPts val="1400"/>
              <a:buFont typeface="Arial"/>
              <a:buChar char="○"/>
              <a:defRPr sz="1050" kern="1200" cap="none">
                <a:solidFill>
                  <a:schemeClr val="tx1"/>
                </a:solidFill>
                <a:effectLst/>
                <a:latin typeface="+mn-lt"/>
                <a:ea typeface="+mn-ea"/>
                <a:cs typeface="+mn-cs"/>
              </a:defRPr>
            </a:lvl8pPr>
            <a:lvl9pPr marL="4114800" lvl="8" indent="-317500" algn="l" defTabSz="342900" rtl="0" eaLnBrk="1" latinLnBrk="0" hangingPunct="1">
              <a:spcBef>
                <a:spcPts val="0"/>
              </a:spcBef>
              <a:spcAft>
                <a:spcPts val="0"/>
              </a:spcAft>
              <a:buClr>
                <a:schemeClr val="accent1">
                  <a:lumMod val="75000"/>
                </a:schemeClr>
              </a:buClr>
              <a:buSzPts val="1400"/>
              <a:buFont typeface="Arial"/>
              <a:buChar char="■"/>
              <a:defRPr sz="1050" kern="1200" cap="none">
                <a:solidFill>
                  <a:schemeClr val="tx1"/>
                </a:solidFill>
                <a:effectLst/>
                <a:latin typeface="+mn-lt"/>
                <a:ea typeface="+mn-ea"/>
                <a:cs typeface="+mn-cs"/>
              </a:defRPr>
            </a:lvl9pPr>
          </a:lstStyle>
          <a:p>
            <a:pPr>
              <a:buClrTx/>
            </a:pPr>
            <a:r>
              <a:rPr lang="en-US" dirty="0">
                <a:latin typeface="Times New Roman" panose="02020603050405020304" pitchFamily="18" charset="0"/>
                <a:cs typeface="Times New Roman" panose="02020603050405020304" pitchFamily="18" charset="0"/>
              </a:rPr>
              <a:t>Custom DAX measures were created to calculate:</a:t>
            </a:r>
          </a:p>
          <a:p>
            <a:pPr>
              <a:buClrTx/>
            </a:pPr>
            <a:r>
              <a:rPr lang="en-US" dirty="0">
                <a:latin typeface="Times New Roman" panose="02020603050405020304" pitchFamily="18" charset="0"/>
                <a:cs typeface="Times New Roman" panose="02020603050405020304" pitchFamily="18" charset="0"/>
              </a:rPr>
              <a:t>Total Customers </a:t>
            </a:r>
          </a:p>
          <a:p>
            <a:pPr>
              <a:buClrTx/>
            </a:pPr>
            <a:r>
              <a:rPr lang="en-US" dirty="0">
                <a:latin typeface="Times New Roman" panose="02020603050405020304" pitchFamily="18" charset="0"/>
                <a:cs typeface="Times New Roman" panose="02020603050405020304" pitchFamily="18" charset="0"/>
              </a:rPr>
              <a:t>Churned Customers </a:t>
            </a:r>
          </a:p>
          <a:p>
            <a:pPr>
              <a:buClrTx/>
            </a:pPr>
            <a:r>
              <a:rPr lang="en-US" dirty="0">
                <a:latin typeface="Times New Roman" panose="02020603050405020304" pitchFamily="18" charset="0"/>
                <a:cs typeface="Times New Roman" panose="02020603050405020304" pitchFamily="18" charset="0"/>
              </a:rPr>
              <a:t>Active Customers </a:t>
            </a:r>
          </a:p>
          <a:p>
            <a:pPr>
              <a:buClrTx/>
            </a:pPr>
            <a:r>
              <a:rPr lang="en-US" dirty="0">
                <a:latin typeface="Times New Roman" panose="02020603050405020304" pitchFamily="18" charset="0"/>
                <a:cs typeface="Times New Roman" panose="02020603050405020304" pitchFamily="18" charset="0"/>
              </a:rPr>
              <a:t>Churn Rate </a:t>
            </a:r>
          </a:p>
          <a:p>
            <a:pPr>
              <a:buClrTx/>
            </a:pPr>
            <a:r>
              <a:rPr lang="en-US" dirty="0">
                <a:latin typeface="Times New Roman" panose="02020603050405020304" pitchFamily="18" charset="0"/>
                <a:cs typeface="Times New Roman" panose="02020603050405020304" pitchFamily="18" charset="0"/>
              </a:rPr>
              <a:t>Average Monthly Charges </a:t>
            </a:r>
          </a:p>
          <a:p>
            <a:pPr>
              <a:buClrTx/>
            </a:pPr>
            <a:r>
              <a:rPr lang="en-US" dirty="0">
                <a:latin typeface="Times New Roman" panose="02020603050405020304" pitchFamily="18" charset="0"/>
                <a:cs typeface="Times New Roman" panose="02020603050405020304" pitchFamily="18" charset="0"/>
              </a:rPr>
              <a:t>Average Customer Tenure </a:t>
            </a:r>
          </a:p>
          <a:p>
            <a:pPr>
              <a:buClrTx/>
            </a:pPr>
            <a:r>
              <a:rPr lang="en-US" dirty="0">
                <a:latin typeface="Times New Roman" panose="02020603050405020304" pitchFamily="18" charset="0"/>
                <a:cs typeface="Times New Roman" panose="02020603050405020304" pitchFamily="18" charset="0"/>
              </a:rPr>
              <a:t>Monthly Recurring Revenue (MRR) at Risk</a:t>
            </a:r>
          </a:p>
          <a:p>
            <a:pPr marL="285750" indent="-285750" defTabSz="914400" eaLnBrk="0" fontAlgn="base" hangingPunct="0">
              <a:spcBef>
                <a:spcPct val="0"/>
              </a:spcBef>
              <a:spcAft>
                <a:spcPct val="0"/>
              </a:spcAft>
              <a:buClrTx/>
              <a:buSzTx/>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636284" y="421473"/>
            <a:ext cx="1940433" cy="438342"/>
          </a:xfrm>
          <a:prstGeom prst="rect">
            <a:avLst/>
          </a:prstGeom>
        </p:spPr>
        <p:txBody>
          <a:bodyPr spcFirstLastPara="1" wrap="square" lIns="91425" tIns="91425" rIns="91425" bIns="91425" anchor="b" anchorCtr="0">
            <a:noAutofit/>
          </a:bodyPr>
          <a:lstStyle/>
          <a:p>
            <a:pPr lvl="0" algn="l"/>
            <a:r>
              <a:rPr lang="en-US" sz="2400" dirty="0">
                <a:latin typeface="Times New Roman" panose="02020603050405020304" pitchFamily="18" charset="0"/>
                <a:cs typeface="Times New Roman" panose="02020603050405020304" pitchFamily="18" charset="0"/>
              </a:rPr>
              <a:t>Key Findings</a:t>
            </a:r>
            <a:endParaRPr sz="2200" dirty="0">
              <a:latin typeface="Times New Roman" panose="02020603050405020304" pitchFamily="18" charset="0"/>
              <a:ea typeface="Times New Roman"/>
              <a:cs typeface="Times New Roman" panose="02020603050405020304" pitchFamily="18" charset="0"/>
              <a:sym typeface="Times New Roman"/>
            </a:endParaRPr>
          </a:p>
        </p:txBody>
      </p:sp>
      <p:sp>
        <p:nvSpPr>
          <p:cNvPr id="78" name="Google Shape;78;p17"/>
          <p:cNvSpPr txBox="1">
            <a:spLocks noGrp="1"/>
          </p:cNvSpPr>
          <p:nvPr>
            <p:ph type="body" idx="1"/>
          </p:nvPr>
        </p:nvSpPr>
        <p:spPr>
          <a:xfrm>
            <a:off x="1423867" y="1097279"/>
            <a:ext cx="4152850" cy="2216075"/>
          </a:xfrm>
          <a:prstGeom prst="rect">
            <a:avLst/>
          </a:prstGeom>
        </p:spPr>
        <p:txBody>
          <a:bodyPr spcFirstLastPara="1" wrap="square" lIns="91425" tIns="91425" rIns="91425" bIns="91425" anchor="t" anchorCtr="0">
            <a:normAutofit/>
          </a:bodyPr>
          <a:lstStyle/>
          <a:p>
            <a:pPr marL="114300" indent="0">
              <a:buNone/>
            </a:pPr>
            <a:r>
              <a:rPr lang="en-US" b="1" dirty="0">
                <a:latin typeface="Times New Roman" panose="02020603050405020304" pitchFamily="18" charset="0"/>
                <a:cs typeface="Times New Roman" panose="02020603050405020304" pitchFamily="18" charset="0"/>
              </a:rPr>
              <a:t>Overall Churn Performance</a:t>
            </a:r>
          </a:p>
          <a:p>
            <a:pPr marL="114300" indent="0">
              <a:buNone/>
            </a:pPr>
            <a:r>
              <a:rPr lang="en-US" dirty="0">
                <a:latin typeface="Times New Roman" panose="02020603050405020304" pitchFamily="18" charset="0"/>
                <a:cs typeface="Times New Roman" panose="02020603050405020304" pitchFamily="18" charset="0"/>
              </a:rPr>
              <a:t>The company has a </a:t>
            </a:r>
            <a:r>
              <a:rPr lang="en-US" b="1" dirty="0">
                <a:latin typeface="Times New Roman" panose="02020603050405020304" pitchFamily="18" charset="0"/>
                <a:cs typeface="Times New Roman" panose="02020603050405020304" pitchFamily="18" charset="0"/>
              </a:rPr>
              <a:t>26.54% churn rate</a:t>
            </a:r>
            <a:r>
              <a:rPr lang="en-US" dirty="0">
                <a:latin typeface="Times New Roman" panose="02020603050405020304" pitchFamily="18" charset="0"/>
                <a:cs typeface="Times New Roman" panose="02020603050405020304" pitchFamily="18" charset="0"/>
              </a:rPr>
              <a:t>, meaning approximately one out of every four customers has discontinued their service. This represents a significant business challenge and places approximately </a:t>
            </a:r>
            <a:r>
              <a:rPr lang="en-US" b="1" dirty="0">
                <a:latin typeface="Times New Roman" panose="02020603050405020304" pitchFamily="18" charset="0"/>
                <a:cs typeface="Times New Roman" panose="02020603050405020304" pitchFamily="18" charset="0"/>
              </a:rPr>
              <a:t>$139.13K in monthly recurring revenue at risk</a:t>
            </a:r>
            <a:r>
              <a:rPr lang="en-US" dirty="0">
                <a:latin typeface="Times New Roman" panose="02020603050405020304" pitchFamily="18" charset="0"/>
                <a:cs typeface="Times New Roman" panose="02020603050405020304" pitchFamily="18" charset="0"/>
              </a:rPr>
              <a:t>.</a:t>
            </a:r>
          </a:p>
          <a:p>
            <a:pPr marL="0" lvl="0" indent="0" algn="l" rtl="0">
              <a:spcBef>
                <a:spcPts val="1200"/>
              </a:spcBef>
              <a:spcAft>
                <a:spcPts val="1200"/>
              </a:spcAft>
              <a:buNone/>
            </a:pPr>
            <a:endParaRPr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557FB80-35C0-4C2A-B013-7D23FCE70211}"/>
              </a:ext>
            </a:extLst>
          </p:cNvPr>
          <p:cNvPicPr>
            <a:picLocks noChangeAspect="1"/>
          </p:cNvPicPr>
          <p:nvPr/>
        </p:nvPicPr>
        <p:blipFill>
          <a:blip r:embed="rId3"/>
          <a:stretch>
            <a:fillRect/>
          </a:stretch>
        </p:blipFill>
        <p:spPr>
          <a:xfrm>
            <a:off x="6102924" y="955867"/>
            <a:ext cx="2513951" cy="25984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772275" y="110908"/>
            <a:ext cx="1940433" cy="546715"/>
          </a:xfrm>
          <a:prstGeom prst="rect">
            <a:avLst/>
          </a:prstGeom>
        </p:spPr>
        <p:txBody>
          <a:bodyPr spcFirstLastPara="1" wrap="square" lIns="91425" tIns="91425" rIns="91425" bIns="91425" anchor="b" anchorCtr="0">
            <a:noAutofit/>
          </a:bodyPr>
          <a:lstStyle/>
          <a:p>
            <a:pPr lvl="0" algn="l"/>
            <a:r>
              <a:rPr lang="en-US" sz="2400" dirty="0">
                <a:latin typeface="Times New Roman" panose="02020603050405020304" pitchFamily="18" charset="0"/>
                <a:cs typeface="Times New Roman" panose="02020603050405020304" pitchFamily="18" charset="0"/>
              </a:rPr>
              <a:t>Key Findings</a:t>
            </a:r>
            <a:endParaRPr sz="2200" dirty="0">
              <a:latin typeface="Times New Roman" panose="02020603050405020304" pitchFamily="18" charset="0"/>
              <a:ea typeface="Times New Roman"/>
              <a:cs typeface="Times New Roman" panose="02020603050405020304" pitchFamily="18" charset="0"/>
              <a:sym typeface="Times New Roman"/>
            </a:endParaRPr>
          </a:p>
        </p:txBody>
      </p:sp>
      <p:sp>
        <p:nvSpPr>
          <p:cNvPr id="78" name="Google Shape;78;p17"/>
          <p:cNvSpPr txBox="1">
            <a:spLocks noGrp="1"/>
          </p:cNvSpPr>
          <p:nvPr>
            <p:ph type="body" idx="1"/>
          </p:nvPr>
        </p:nvSpPr>
        <p:spPr>
          <a:xfrm>
            <a:off x="1108036" y="689896"/>
            <a:ext cx="7519867" cy="4034504"/>
          </a:xfrm>
          <a:prstGeom prst="rect">
            <a:avLst/>
          </a:prstGeom>
        </p:spPr>
        <p:txBody>
          <a:bodyPr spcFirstLastPara="1" wrap="square" lIns="91425" tIns="91425" rIns="91425" bIns="91425" anchor="t" anchorCtr="0">
            <a:normAutofit/>
          </a:bodyPr>
          <a:lstStyle/>
          <a:p>
            <a:r>
              <a:rPr lang="en-US" b="1" dirty="0">
                <a:latin typeface="Times New Roman" panose="02020603050405020304" pitchFamily="18" charset="0"/>
                <a:cs typeface="Times New Roman" panose="02020603050405020304" pitchFamily="18" charset="0"/>
              </a:rPr>
              <a:t>Contract Type</a:t>
            </a:r>
          </a:p>
          <a:p>
            <a:r>
              <a:rPr lang="en-US" dirty="0">
                <a:latin typeface="Times New Roman" panose="02020603050405020304" pitchFamily="18" charset="0"/>
                <a:cs typeface="Times New Roman" panose="02020603050405020304" pitchFamily="18" charset="0"/>
              </a:rPr>
              <a:t>Customers with </a:t>
            </a:r>
            <a:r>
              <a:rPr lang="en-US" b="1" dirty="0">
                <a:latin typeface="Times New Roman" panose="02020603050405020304" pitchFamily="18" charset="0"/>
                <a:cs typeface="Times New Roman" panose="02020603050405020304" pitchFamily="18" charset="0"/>
              </a:rPr>
              <a:t>Month-to-Month contracts</a:t>
            </a:r>
            <a:r>
              <a:rPr lang="en-US" dirty="0">
                <a:latin typeface="Times New Roman" panose="02020603050405020304" pitchFamily="18" charset="0"/>
                <a:cs typeface="Times New Roman" panose="02020603050405020304" pitchFamily="18" charset="0"/>
              </a:rPr>
              <a:t> recorded the highest churn, while customers on </a:t>
            </a:r>
            <a:r>
              <a:rPr lang="en-US" b="1" dirty="0">
                <a:latin typeface="Times New Roman" panose="02020603050405020304" pitchFamily="18" charset="0"/>
                <a:cs typeface="Times New Roman" panose="02020603050405020304" pitchFamily="18" charset="0"/>
              </a:rPr>
              <a:t>One-Year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Two-Year contracts</a:t>
            </a:r>
            <a:r>
              <a:rPr lang="en-US" dirty="0">
                <a:latin typeface="Times New Roman" panose="02020603050405020304" pitchFamily="18" charset="0"/>
                <a:cs typeface="Times New Roman" panose="02020603050405020304" pitchFamily="18" charset="0"/>
              </a:rPr>
              <a:t> were much more likely to remain with the company.</a:t>
            </a:r>
          </a:p>
          <a:p>
            <a:r>
              <a:rPr lang="en-US" b="1" dirty="0">
                <a:latin typeface="Times New Roman" panose="02020603050405020304" pitchFamily="18" charset="0"/>
                <a:cs typeface="Times New Roman" panose="02020603050405020304" pitchFamily="18" charset="0"/>
              </a:rPr>
              <a:t>Payment Method</a:t>
            </a:r>
          </a:p>
          <a:p>
            <a:r>
              <a:rPr lang="en-US" dirty="0">
                <a:latin typeface="Times New Roman" panose="02020603050405020304" pitchFamily="18" charset="0"/>
                <a:cs typeface="Times New Roman" panose="02020603050405020304" pitchFamily="18" charset="0"/>
              </a:rPr>
              <a:t>Customers using </a:t>
            </a:r>
            <a:r>
              <a:rPr lang="en-US" b="1" dirty="0">
                <a:latin typeface="Times New Roman" panose="02020603050405020304" pitchFamily="18" charset="0"/>
                <a:cs typeface="Times New Roman" panose="02020603050405020304" pitchFamily="18" charset="0"/>
              </a:rPr>
              <a:t>Electronic Check</a:t>
            </a:r>
            <a:r>
              <a:rPr lang="en-US" dirty="0">
                <a:latin typeface="Times New Roman" panose="02020603050405020304" pitchFamily="18" charset="0"/>
                <a:cs typeface="Times New Roman" panose="02020603050405020304" pitchFamily="18" charset="0"/>
              </a:rPr>
              <a:t> experienced the highest level of churn compared to other payment methods.</a:t>
            </a:r>
          </a:p>
          <a:p>
            <a:r>
              <a:rPr lang="en-US" b="1" dirty="0">
                <a:latin typeface="Times New Roman" panose="02020603050405020304" pitchFamily="18" charset="0"/>
                <a:cs typeface="Times New Roman" panose="02020603050405020304" pitchFamily="18" charset="0"/>
              </a:rPr>
              <a:t>Technical Support</a:t>
            </a:r>
          </a:p>
          <a:p>
            <a:r>
              <a:rPr lang="en-US" dirty="0">
                <a:latin typeface="Times New Roman" panose="02020603050405020304" pitchFamily="18" charset="0"/>
                <a:cs typeface="Times New Roman" panose="02020603050405020304" pitchFamily="18" charset="0"/>
              </a:rPr>
              <a:t>Customers without </a:t>
            </a:r>
            <a:r>
              <a:rPr lang="en-US" b="1" dirty="0">
                <a:latin typeface="Times New Roman" panose="02020603050405020304" pitchFamily="18" charset="0"/>
                <a:cs typeface="Times New Roman" panose="02020603050405020304" pitchFamily="18" charset="0"/>
              </a:rPr>
              <a:t>Tech Support</a:t>
            </a:r>
            <a:r>
              <a:rPr lang="en-US" dirty="0">
                <a:latin typeface="Times New Roman" panose="02020603050405020304" pitchFamily="18" charset="0"/>
                <a:cs typeface="Times New Roman" panose="02020603050405020304" pitchFamily="18" charset="0"/>
              </a:rPr>
              <a:t> were significantly more likely to churn than customers who received technical support.</a:t>
            </a:r>
          </a:p>
          <a:p>
            <a:r>
              <a:rPr lang="en-US" b="1" dirty="0">
                <a:latin typeface="Times New Roman" panose="02020603050405020304" pitchFamily="18" charset="0"/>
                <a:cs typeface="Times New Roman" panose="02020603050405020304" pitchFamily="18" charset="0"/>
              </a:rPr>
              <a:t>Internet Service</a:t>
            </a:r>
          </a:p>
          <a:p>
            <a:r>
              <a:rPr lang="en-US" dirty="0">
                <a:latin typeface="Times New Roman" panose="02020603050405020304" pitchFamily="18" charset="0"/>
                <a:cs typeface="Times New Roman" panose="02020603050405020304" pitchFamily="18" charset="0"/>
              </a:rPr>
              <a:t>Customers subscribed to </a:t>
            </a:r>
            <a:r>
              <a:rPr lang="en-US" b="1" dirty="0">
                <a:latin typeface="Times New Roman" panose="02020603050405020304" pitchFamily="18" charset="0"/>
                <a:cs typeface="Times New Roman" panose="02020603050405020304" pitchFamily="18" charset="0"/>
              </a:rPr>
              <a:t>Fiber Optic internet services</a:t>
            </a:r>
            <a:r>
              <a:rPr lang="en-US" dirty="0">
                <a:latin typeface="Times New Roman" panose="02020603050405020304" pitchFamily="18" charset="0"/>
                <a:cs typeface="Times New Roman" panose="02020603050405020304" pitchFamily="18" charset="0"/>
              </a:rPr>
              <a:t> had the highest churn rate, suggesting potential concerns related to service quality, pricing, or customer expectations.</a:t>
            </a:r>
          </a:p>
          <a:p>
            <a:r>
              <a:rPr lang="en-US" b="1" dirty="0">
                <a:latin typeface="Times New Roman" panose="02020603050405020304" pitchFamily="18" charset="0"/>
                <a:cs typeface="Times New Roman" panose="02020603050405020304" pitchFamily="18" charset="0"/>
              </a:rPr>
              <a:t>Customer Tenure</a:t>
            </a:r>
          </a:p>
          <a:p>
            <a:r>
              <a:rPr lang="en-US" dirty="0">
                <a:latin typeface="Times New Roman" panose="02020603050405020304" pitchFamily="18" charset="0"/>
                <a:cs typeface="Times New Roman" panose="02020603050405020304" pitchFamily="18" charset="0"/>
              </a:rPr>
              <a:t>The analysis showed that customers were most likely to churn during the early months of their relationship with the company. Customers with longer tenure demonstrated greater loyalty and lower churn rates.</a:t>
            </a:r>
          </a:p>
          <a:p>
            <a:pPr marL="11430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720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830383" y="0"/>
            <a:ext cx="1483233"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Findings</a:t>
            </a:r>
            <a:endParaRPr dirty="0">
              <a:latin typeface="Times New Roman" panose="02020603050405020304" pitchFamily="18" charset="0"/>
              <a:cs typeface="Times New Roman" panose="02020603050405020304" pitchFamily="18" charset="0"/>
            </a:endParaRPr>
          </a:p>
        </p:txBody>
      </p:sp>
      <p:sp>
        <p:nvSpPr>
          <p:cNvPr id="84" name="Google Shape;84;p18"/>
          <p:cNvSpPr txBox="1">
            <a:spLocks noGrp="1"/>
          </p:cNvSpPr>
          <p:nvPr>
            <p:ph type="body" idx="1"/>
          </p:nvPr>
        </p:nvSpPr>
        <p:spPr>
          <a:xfrm>
            <a:off x="1222786" y="863550"/>
            <a:ext cx="7308300" cy="3416400"/>
          </a:xfrm>
          <a:prstGeom prst="rect">
            <a:avLst/>
          </a:prstGeom>
        </p:spPr>
        <p:txBody>
          <a:bodyPr spcFirstLastPara="1" wrap="square" lIns="91425" tIns="91425" rIns="91425" bIns="91425" anchor="t" anchorCtr="0">
            <a:normAutofit/>
          </a:bodyPr>
          <a:lstStyle/>
          <a:p>
            <a:r>
              <a:rPr lang="en-US" dirty="0">
                <a:latin typeface="Times New Roman" panose="02020603050405020304" pitchFamily="18" charset="0"/>
                <a:cs typeface="Times New Roman" panose="02020603050405020304" pitchFamily="18" charset="0"/>
              </a:rPr>
              <a:t>The findings indicate that customers on short-term contracts are less committed and more likely to switch providers. Similarly, customers without technical support or those using Fiber Optic services may not be receiving sufficient value from their subscriptions.</a:t>
            </a:r>
          </a:p>
          <a:p>
            <a:r>
              <a:rPr lang="en-US" dirty="0">
                <a:latin typeface="Times New Roman" panose="02020603050405020304" pitchFamily="18" charset="0"/>
                <a:cs typeface="Times New Roman" panose="02020603050405020304" pitchFamily="18" charset="0"/>
              </a:rPr>
              <a:t>The high churn among new customers also highlights the importance of improving the onboarding experience during the first few months of service. </a:t>
            </a:r>
          </a:p>
          <a:p>
            <a:pPr marL="0" lvl="0" indent="0" algn="l" rtl="0">
              <a:spcBef>
                <a:spcPts val="1200"/>
              </a:spcBef>
              <a:spcAft>
                <a:spcPts val="1200"/>
              </a:spcAft>
              <a:buNone/>
            </a:pPr>
            <a:endParaRPr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2FD2A6C-D82B-40C8-A74A-030D06818E0D}"/>
              </a:ext>
            </a:extLst>
          </p:cNvPr>
          <p:cNvPicPr>
            <a:picLocks noChangeAspect="1"/>
          </p:cNvPicPr>
          <p:nvPr/>
        </p:nvPicPr>
        <p:blipFill>
          <a:blip r:embed="rId3"/>
          <a:stretch>
            <a:fillRect/>
          </a:stretch>
        </p:blipFill>
        <p:spPr>
          <a:xfrm>
            <a:off x="2928801" y="2231789"/>
            <a:ext cx="3896269" cy="20481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512100" y="1925"/>
            <a:ext cx="27871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ts val="990"/>
              <a:buNone/>
            </a:pPr>
            <a:r>
              <a:rPr lang="en-US" sz="2420" dirty="0"/>
              <a:t>Recommendations</a:t>
            </a:r>
            <a:endParaRPr sz="2420" dirty="0"/>
          </a:p>
        </p:txBody>
      </p:sp>
      <p:sp>
        <p:nvSpPr>
          <p:cNvPr id="90" name="Google Shape;90;p19"/>
          <p:cNvSpPr txBox="1">
            <a:spLocks noGrp="1"/>
          </p:cNvSpPr>
          <p:nvPr>
            <p:ph type="body" idx="1"/>
          </p:nvPr>
        </p:nvSpPr>
        <p:spPr>
          <a:xfrm>
            <a:off x="1243033" y="494852"/>
            <a:ext cx="7325233" cy="3785098"/>
          </a:xfrm>
          <a:prstGeom prst="rect">
            <a:avLst/>
          </a:prstGeom>
        </p:spPr>
        <p:txBody>
          <a:bodyPr spcFirstLastPara="1" wrap="square" lIns="91425" tIns="91425" rIns="91425" bIns="91425" anchor="t" anchorCtr="0">
            <a:normAutofit lnSpcReduction="10000"/>
          </a:bodyPr>
          <a:lstStyle/>
          <a:p>
            <a:endParaRPr lang="en-US" dirty="0"/>
          </a:p>
          <a:p>
            <a:pPr marL="114300" indent="0">
              <a:buNone/>
            </a:pPr>
            <a:r>
              <a:rPr lang="en-US" b="1" dirty="0"/>
              <a:t>1.	Encourage Long-Term Contracts</a:t>
            </a:r>
          </a:p>
          <a:p>
            <a:r>
              <a:rPr lang="en-US" dirty="0"/>
              <a:t>Provide discounts, loyalty rewards, or promotional offers that encourage customers to move from Month-to-Month contracts to One-Year or Two-Year plans.</a:t>
            </a:r>
          </a:p>
          <a:p>
            <a:pPr marL="114300" indent="0">
              <a:buNone/>
            </a:pPr>
            <a:r>
              <a:rPr lang="en-US" b="1" dirty="0"/>
              <a:t>2. 	Improve Customer Onboarding</a:t>
            </a:r>
          </a:p>
          <a:p>
            <a:r>
              <a:rPr lang="en-US" dirty="0"/>
              <a:t>Develop onboarding programs that engage customers during their first 90 days through welcome campaigns, follow-up communication, and proactive support.</a:t>
            </a:r>
            <a:endParaRPr lang="en-US" b="1" dirty="0"/>
          </a:p>
          <a:p>
            <a:pPr marL="114300" indent="0">
              <a:buNone/>
            </a:pPr>
            <a:r>
              <a:rPr lang="en-US" b="1" dirty="0"/>
              <a:t>3. 	Expand Technical Support Services</a:t>
            </a:r>
          </a:p>
          <a:p>
            <a:r>
              <a:rPr lang="en-US" dirty="0"/>
              <a:t>Promote Tech Support packages and educate customers on their benefits to improve satisfaction and reduce churn.</a:t>
            </a:r>
          </a:p>
          <a:p>
            <a:pPr marL="114300" indent="0">
              <a:buNone/>
            </a:pPr>
            <a:r>
              <a:rPr lang="en-US" b="1" dirty="0"/>
              <a:t>4. 	Improve Fiber Optic Customer Experience</a:t>
            </a:r>
          </a:p>
          <a:p>
            <a:r>
              <a:rPr lang="en-US" dirty="0"/>
              <a:t>Conduct customer satisfaction surveys, review pricing strategies, and address service quality concerns affecting Fiber Optic customers.</a:t>
            </a:r>
          </a:p>
          <a:p>
            <a:pPr marL="114300" indent="0">
              <a:buNone/>
            </a:pPr>
            <a:r>
              <a:rPr lang="en-US" b="1" dirty="0"/>
              <a:t>5. 	Promote Automatic Payment Methods</a:t>
            </a:r>
          </a:p>
          <a:p>
            <a:r>
              <a:rPr lang="en-US" dirty="0"/>
              <a:t>Encourage customers using Electronic Check to switch to automatic payment options through incentives and simplified payment processes.</a:t>
            </a:r>
          </a:p>
          <a:p>
            <a:pPr marL="0" lvl="0" indent="0" algn="l" rtl="0">
              <a:spcBef>
                <a:spcPts val="1200"/>
              </a:spcBef>
              <a:spcAft>
                <a:spcPts val="120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589866" y="288275"/>
            <a:ext cx="1964268"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Conclusion</a:t>
            </a:r>
            <a:endParaRPr dirty="0"/>
          </a:p>
        </p:txBody>
      </p:sp>
      <p:sp>
        <p:nvSpPr>
          <p:cNvPr id="96" name="Google Shape;96;p20"/>
          <p:cNvSpPr txBox="1">
            <a:spLocks noGrp="1"/>
          </p:cNvSpPr>
          <p:nvPr>
            <p:ph type="body" idx="1"/>
          </p:nvPr>
        </p:nvSpPr>
        <p:spPr>
          <a:xfrm>
            <a:off x="1354666" y="1152475"/>
            <a:ext cx="7477633" cy="3416400"/>
          </a:xfrm>
          <a:prstGeom prst="rect">
            <a:avLst/>
          </a:prstGeom>
        </p:spPr>
        <p:txBody>
          <a:bodyPr spcFirstLastPara="1" wrap="square" lIns="91425" tIns="91425" rIns="91425" bIns="91425" anchor="t" anchorCtr="0">
            <a:normAutofit/>
          </a:bodyPr>
          <a:lstStyle/>
          <a:p>
            <a:pPr marL="114300" indent="0">
              <a:buNone/>
            </a:pPr>
            <a:r>
              <a:rPr lang="en-US" dirty="0"/>
              <a:t>This analysis successfully identified the key drivers of customer churn within the telecommunications company. Contract type, payment method, internet service, technical support, and customer tenure were found to have the greatest influence on customer retention.</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194</TotalTime>
  <Words>549</Words>
  <Application>Microsoft Office PowerPoint</Application>
  <PresentationFormat>On-screen Show (16:9)</PresentationFormat>
  <Paragraphs>92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Times New Roman</vt:lpstr>
      <vt:lpstr>Wingdings 3</vt:lpstr>
      <vt:lpstr>Arial</vt:lpstr>
      <vt:lpstr>Century Gothic</vt:lpstr>
      <vt:lpstr>Wisp</vt:lpstr>
      <vt:lpstr>PowerPoint Presentation</vt:lpstr>
      <vt:lpstr>The Problem Statement</vt:lpstr>
      <vt:lpstr>Data Description </vt:lpstr>
      <vt:lpstr>Key Variables</vt:lpstr>
      <vt:lpstr>Data Preparation</vt:lpstr>
      <vt:lpstr>Key Findings</vt:lpstr>
      <vt:lpstr>Key Findings</vt:lpstr>
      <vt:lpstr>Findings</vt:lpstr>
      <vt:lpstr>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Joy Akeji</dc:creator>
  <cp:lastModifiedBy>Joy Akeji</cp:lastModifiedBy>
  <cp:revision>10</cp:revision>
  <dcterms:modified xsi:type="dcterms:W3CDTF">2026-07-06T16:46:01Z</dcterms:modified>
</cp:coreProperties>
</file>